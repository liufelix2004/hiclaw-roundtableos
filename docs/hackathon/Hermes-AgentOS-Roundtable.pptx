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我们做的不是又一个 Agent 编排 Demo，而是让多个智能体真正开一场会。今天想讲清楚三件事：为什么单个模型给的答案没人敢用，我们用圆桌机制怎么解决，以及现场能不能跑给你看。整套系统七个智能体同席、三轮辩论收敛、四维出口质检，全程不需要人工介入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三个问题是我们真正踩过的。单点视角是根因：一个模型一次推理就给结论，它的盲区就是整个系统的盲区，没有任何环节会提出反对意见。无从追责和不敢落地都是从这里派生出来的。所以我们的判断是，缺的不是更强的模型，而是一个让分歧先发生的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我们的答案就是 AI 圆桌。七个智能体带着各自的专业视角同时上桌，数据、调研、分析、撰写、质检互相独立，天然形成交叉验证。更关键的是每次发言都必须带立场标签，系统鼓励反对而不是附和。主持人不参与讨论，它只负责控制议程并保证会议开出结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场圆桌分四个阶段。主持人开场先锁定议题、成功标准和轮次上限，讨论有边界才收得住。中间是多轮发言，第二轮起参与者被指派质疑或补充，强制产生对立面。第三步主持人把讨论压缩成方案，最后交给质检。轮次上限硬编码为三轮，这是我们对发散不收尾这个老问题的直接回答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是七个席位和各自的职责，颜色和产品里的实时界面是一致的。右边是立场标签，这是圆桌和普通群聊式多智能体最大的区别：发言必须表态，是提案、质疑、补充还是收敛。第二轮起系统会轮流指派质疑方和补充方，确保每个提案都至少被正面挑战过一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同一个议题在三轮里的演进。第一轮各自提案，观点是平行的。第二轮开始交锋，质疑方直接指出口径问题，补充方修正节奏判断。第三轮不再引入新议题，只围绕活下来的方案补齐执行细节。观点的质量是在对抗中提升的，这一页是整个机制价值的直接证据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敛这一步决定了圆桌是不是白开。主持人不复述讨论，而是把全部发言压缩成四段式结构化结果：共识、分歧、执行任务、风险项。注意我们保留分歧而不假装一致。最右边的执行任务清单带负责人、输入和交付标准，可以直接喂回任务流水线由调度器接着跑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圆桌讨论出来的方案没有豁免权。共识必须通过 Validator 的四维评分才允许发布，任何一维不合格都是一票否决。不通过时校验失败码会直接驱动回滚，主持人重新合成，最多五轮仍不过才升级为人工工单。这条闸门同样作用于每一个智能体的中间产出，圆桌只是它守住的最后一道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这是现场最有记忆点的部分。多智能体最难被感知的是同时性，谁在等、谁在想、谁在反对，平铺的聊天流表达不了，一张桌子可以。场景用 Three.js 渲染，七个席位环绕圆桌可以自由旋转，思考态有头部摆动和光环脉冲，发言气泡会停留在座位上方。这里可以直接切到实机演示。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圆桌敢用，是因为下面有一整套底座。一场会议开得好不好，取决于参会者靠不靠谱、失败能不能兜住、过程能不能查。协作层就是刚才讲的圆桌，接下来三页快速交代其余三层：能力怎么装、失败怎么救、过程怎么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能力怎么装。每个智能体只声明五个文件，能力声明、提示词、输出结构、校验和工具绑定，调度、重试、观测全部由运行时托管，新增一个角色不用写一行调度代码。右边是任务调度器，用拓扑排序自动分层，同层并行执行，上游产出自动注入下游上下文。调度器不理解业务，只理解依赖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失败怎么救。四级阶梯从最便宜的开始：先试快照回滚，复用最近一次通过校验的输出，零 Token 成本；再按经验记忆的历史成功率换模型重跑；然后原模型重试；都不行才生成带操作建议的人工工单。右边的经验记忆让这套阶梯越用越准，每次成败都会改变下一次先试哪个模型。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过程怎么查。每次执行都会经过八个阶段并逐一埋点，带模型、Token、成本和耗时。这里要强调因果关系：可观测不是事后补的日志，它是回滚决策的输入，没有 Trace 和快照就没有自动恢复。下面三张卡分别是快照留痕、成本归集和运行看板。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演示议题选了一个真实会有分歧的问题：储能、光伏、新能源车三条主线哪条最值得优先配置。这个议题不同角色会给出不同答案，正好能看出圆桌的价值。需要说明的是，演示数据是仓库内置的模拟数据集，字段结构与真实数据源一致。开启 Mock 模式后没有 API Key 也能跑通整场圆桌。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和常见方案的差别，最上面一行是最关键的：别人的多智能体是链式调用或主从分发，角色之间不交锋，结论仍然来自单个模型的一次推理；我们的结论是多视角对抗之后被保留下来的部分。下面四行是让这件事可靠的配套。我们不打算取代编排框架，补的是它们普遍留白的那两层，对抗与治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一步我们想把这场会议变成一套会议制度：主持人根据议题复杂度自行决定轮次和参会角色，能力可以像插件一样灰度上线让圆桌自由组队，再加上预算护栏让长辩论也花得可控。谢谢，欢迎提问，也欢迎现场看实机演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3429000" y="-1333500"/>
            <a:ext cx="17621250" cy="11239500"/>
            <a:chOff x="-3429000" y="-1333500"/>
            <a:chExt cx="17621250" cy="1123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524250" y="-1333500"/>
              <a:ext cx="10668000" cy="89535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3429000" y="3429000"/>
              <a:ext cx="9144000" cy="6477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5106924" y="1880235"/>
            <a:ext cx="7159752" cy="3482816"/>
            <a:chOff x="5106924" y="1880235"/>
            <a:chExt cx="7159752" cy="3482816"/>
          </a:xfrm>
        </p:grpSpPr>
        <p:sp>
          <p:nvSpPr>
            <p:cNvPr id="39" name="Ellipse 39"/>
            <p:cNvSpPr/>
            <p:nvPr/>
          </p:nvSpPr>
          <p:spPr>
            <a:xfrm>
              <a:off x="5548884" y="1890370"/>
              <a:ext cx="6275832" cy="3305861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725668" y="2240280"/>
              <a:ext cx="5922264" cy="2606040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106924" y="1967865"/>
              <a:ext cx="7159752" cy="3150870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477000" y="2668219"/>
              <a:ext cx="4419600" cy="1944624"/>
            </a:xfrm>
            <a:prstGeom prst="ellipse">
              <a:avLst/>
            </a:prstGeom>
            <a:solidFill>
              <a:srgbClr val="08122A">
                <a:alpha val="55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477000" y="2570988"/>
              <a:ext cx="4419600" cy="1944624"/>
            </a:xfrm>
            <a:prstGeom prst="ellipse">
              <a:avLst/>
            </a:prstGeom>
            <a:gradFill>
              <a:gsLst>
                <a:gs pos="0">
                  <a:srgbClr val="2C4C9E">
                    <a:alpha val="62000"/>
                  </a:srgbClr>
                </a:gs>
                <a:gs pos="60000">
                  <a:srgbClr val="16264C">
                    <a:alpha val="50000"/>
                  </a:srgbClr>
                </a:gs>
                <a:gs pos="100000">
                  <a:srgbClr val="0A1024">
                    <a:alpha val="34000"/>
                  </a:srgbClr>
                </a:gs>
              </a:gsLst>
              <a:path path="circle">
                <a:fillToRect l="50000" t="38000" r="50000" b="62000"/>
              </a:path>
            </a:gradFill>
            <a:ln w="13335">
              <a:solidFill>
                <a:schemeClr val="accent6">
                  <a:alpha val="70000"/>
                </a:schemeClr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7316724" y="2940467"/>
              <a:ext cx="2740152" cy="1205667"/>
            </a:xfrm>
            <a:prstGeom prst="ellipse">
              <a:avLst/>
            </a:prstGeom>
            <a:noFill/>
            <a:ln w="9525">
              <a:solidFill>
                <a:srgbClr val="5E86FF">
                  <a:alpha val="30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8686800" y="2279332"/>
              <a:ext cx="2220277" cy="631508"/>
            </a:xfrm>
            <a:custGeom>
              <a:avLst/>
              <a:gdLst/>
              <a:ahLst/>
              <a:cxnLst/>
              <a:rect l="l" t="t" r="r" b="b"/>
              <a:pathLst>
                <a:path w="2220277" h="631508">
                  <a:moveTo>
                    <a:pt x="0" y="0"/>
                  </a:moveTo>
                  <a:lnTo>
                    <a:pt x="2220277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8686800" y="2279332"/>
              <a:ext cx="2220277" cy="1896427"/>
            </a:xfrm>
            <a:custGeom>
              <a:avLst/>
              <a:gdLst/>
              <a:ahLst/>
              <a:cxnLst/>
              <a:rect l="l" t="t" r="r" b="b"/>
              <a:pathLst>
                <a:path w="2220277" h="1896427">
                  <a:moveTo>
                    <a:pt x="0" y="0"/>
                  </a:moveTo>
                  <a:lnTo>
                    <a:pt x="2220277" y="189642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8686800" y="2279332"/>
              <a:ext cx="9525" cy="2527935"/>
            </a:xfrm>
            <a:custGeom>
              <a:avLst/>
              <a:gdLst/>
              <a:ahLst/>
              <a:cxnLst/>
              <a:rect l="l" t="t" r="r" b="b"/>
              <a:pathLst>
                <a:path w="9525" h="2527935">
                  <a:moveTo>
                    <a:pt x="0" y="0"/>
                  </a:moveTo>
                  <a:lnTo>
                    <a:pt x="0" y="2527935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6466522" y="2279332"/>
              <a:ext cx="2220278" cy="1896427"/>
            </a:xfrm>
            <a:custGeom>
              <a:avLst/>
              <a:gdLst/>
              <a:ahLst/>
              <a:cxnLst/>
              <a:rect l="l" t="t" r="r" b="b"/>
              <a:pathLst>
                <a:path w="2220278" h="1896427">
                  <a:moveTo>
                    <a:pt x="2220278" y="0"/>
                  </a:moveTo>
                  <a:lnTo>
                    <a:pt x="0" y="189642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6466522" y="2279332"/>
              <a:ext cx="2220278" cy="631508"/>
            </a:xfrm>
            <a:custGeom>
              <a:avLst/>
              <a:gdLst/>
              <a:ahLst/>
              <a:cxnLst/>
              <a:rect l="l" t="t" r="r" b="b"/>
              <a:pathLst>
                <a:path w="2220278" h="631508">
                  <a:moveTo>
                    <a:pt x="2220278" y="0"/>
                  </a:moveTo>
                  <a:lnTo>
                    <a:pt x="0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10907078" y="2910840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0"/>
                  </a:moveTo>
                  <a:lnTo>
                    <a:pt x="0" y="126492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8686800" y="2910840"/>
              <a:ext cx="2220277" cy="1896427"/>
            </a:xfrm>
            <a:custGeom>
              <a:avLst/>
              <a:gdLst/>
              <a:ahLst/>
              <a:cxnLst/>
              <a:rect l="l" t="t" r="r" b="b"/>
              <a:pathLst>
                <a:path w="2220277" h="1896427">
                  <a:moveTo>
                    <a:pt x="2220277" y="0"/>
                  </a:moveTo>
                  <a:lnTo>
                    <a:pt x="0" y="189642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466522" y="2910840"/>
              <a:ext cx="4440555" cy="1264920"/>
            </a:xfrm>
            <a:custGeom>
              <a:avLst/>
              <a:gdLst/>
              <a:ahLst/>
              <a:cxnLst/>
              <a:rect l="l" t="t" r="r" b="b"/>
              <a:pathLst>
                <a:path w="4440555" h="1264920">
                  <a:moveTo>
                    <a:pt x="4440555" y="0"/>
                  </a:moveTo>
                  <a:lnTo>
                    <a:pt x="0" y="126492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466522" y="2910840"/>
              <a:ext cx="4440555" cy="9525"/>
            </a:xfrm>
            <a:custGeom>
              <a:avLst/>
              <a:gdLst/>
              <a:ahLst/>
              <a:cxnLst/>
              <a:rect l="l" t="t" r="r" b="b"/>
              <a:pathLst>
                <a:path w="4440555" h="9525">
                  <a:moveTo>
                    <a:pt x="44405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686800" y="4175760"/>
              <a:ext cx="2220277" cy="631508"/>
            </a:xfrm>
            <a:custGeom>
              <a:avLst/>
              <a:gdLst/>
              <a:ahLst/>
              <a:cxnLst/>
              <a:rect l="l" t="t" r="r" b="b"/>
              <a:pathLst>
                <a:path w="2220277" h="631508">
                  <a:moveTo>
                    <a:pt x="2220277" y="0"/>
                  </a:moveTo>
                  <a:lnTo>
                    <a:pt x="0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6466522" y="4175760"/>
              <a:ext cx="4440555" cy="9525"/>
            </a:xfrm>
            <a:custGeom>
              <a:avLst/>
              <a:gdLst/>
              <a:ahLst/>
              <a:cxnLst/>
              <a:rect l="l" t="t" r="r" b="b"/>
              <a:pathLst>
                <a:path w="4440555" h="9525">
                  <a:moveTo>
                    <a:pt x="44405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466522" y="2910840"/>
              <a:ext cx="4440555" cy="1264920"/>
            </a:xfrm>
            <a:custGeom>
              <a:avLst/>
              <a:gdLst/>
              <a:ahLst/>
              <a:cxnLst/>
              <a:rect l="l" t="t" r="r" b="b"/>
              <a:pathLst>
                <a:path w="4440555" h="1264920">
                  <a:moveTo>
                    <a:pt x="4440555" y="12649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6466522" y="4175760"/>
              <a:ext cx="2220278" cy="631508"/>
            </a:xfrm>
            <a:custGeom>
              <a:avLst/>
              <a:gdLst/>
              <a:ahLst/>
              <a:cxnLst/>
              <a:rect l="l" t="t" r="r" b="b"/>
              <a:pathLst>
                <a:path w="2220278" h="631508">
                  <a:moveTo>
                    <a:pt x="2220278" y="63150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6466522" y="2910840"/>
              <a:ext cx="2220278" cy="1896427"/>
            </a:xfrm>
            <a:custGeom>
              <a:avLst/>
              <a:gdLst/>
              <a:ahLst/>
              <a:cxnLst/>
              <a:rect l="l" t="t" r="r" b="b"/>
              <a:pathLst>
                <a:path w="2220278" h="1896427">
                  <a:moveTo>
                    <a:pt x="2220278" y="189642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6466522" y="2910840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12649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326336" y="3362325"/>
              <a:ext cx="720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圆桌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265772" y="3648789"/>
              <a:ext cx="84205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ROUNDTABLE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8311515" y="1904048"/>
              <a:ext cx="750570" cy="750570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414385" y="2006918"/>
              <a:ext cx="544830" cy="544830"/>
            </a:xfrm>
            <a:prstGeom prst="ellipse">
              <a:avLst/>
            </a:prstGeom>
            <a:noFill/>
            <a:ln w="1143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499158" y="2091690"/>
              <a:ext cx="375285" cy="375285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607742" y="2200275"/>
              <a:ext cx="158115" cy="1581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91214" y="188023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2424" y="2047399"/>
              <a:ext cx="64875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MODERATOR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10745152" y="274891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366F1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0839450" y="2843212"/>
              <a:ext cx="135255" cy="135255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711491" y="253746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研究员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644718" y="2704624"/>
              <a:ext cx="5247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RESEARCH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10745152" y="401383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10839450" y="4108132"/>
              <a:ext cx="135255" cy="13525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711491" y="443103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77718" y="4598194"/>
              <a:ext cx="45871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ANALYST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524875" y="4645342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8619172" y="4739640"/>
              <a:ext cx="135255" cy="135255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91214" y="5062538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撰稿员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492858" y="5229701"/>
              <a:ext cx="3878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WRITER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304598" y="401383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3B82F6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6398895" y="4108132"/>
              <a:ext cx="135255" cy="13525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70936" y="443103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336162" y="4598194"/>
              <a:ext cx="2607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304598" y="274891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EF4444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6398895" y="2843212"/>
              <a:ext cx="135255" cy="13525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70936" y="253746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验证员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173582" y="2704624"/>
              <a:ext cx="5858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VALIDATOR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66750" y="817245"/>
            <a:ext cx="5287628" cy="4650105"/>
            <a:chOff x="666750" y="817245"/>
            <a:chExt cx="5287628" cy="4650105"/>
          </a:xfrm>
        </p:grpSpPr>
        <p:sp>
          <p:nvSpPr>
            <p:cNvPr id="89" name="TextBox 89"/>
            <p:cNvSpPr txBox="1"/>
            <p:nvPr/>
          </p:nvSpPr>
          <p:spPr>
            <a:xfrm>
              <a:off x="681038" y="817245"/>
              <a:ext cx="44290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19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HACKATHON 2026 · MULTI-AGENT OPERATING SYSTEM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685800" y="11049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66750" y="1555432"/>
              <a:ext cx="5287628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Hermes AgentOS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72846" y="2372678"/>
              <a:ext cx="36249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gradFill>
                    <a:gsLst>
                      <a:gs pos="0">
                        <a:srgbClr val="6E8CFF"/>
                      </a:gs>
                      <a:gs pos="52000">
                        <a:srgbClr val="A78BFA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让 AI 开一场圆桌会议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0085" y="3078956"/>
              <a:ext cx="442087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多个智能体带着不同立场同台辩论，由主持人收敛成一份经过质检的可</a:t>
              </a:r>
              <a:br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执行方案 —— 而不是让单个模型独自给答案。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70560" y="41529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1038" y="46081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个智能体同席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794510" y="41529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804988" y="46081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轮辩论收敛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2918460" y="41529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2928938" y="46081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维出口质检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042410" y="4152900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052888" y="46081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人工介入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685800" y="4953000"/>
              <a:ext cx="4362450" cy="9525"/>
            </a:xfrm>
            <a:custGeom>
              <a:avLst/>
              <a:gdLst/>
              <a:ahLst/>
              <a:cxnLst/>
              <a:rect l="l" t="t" r="r" b="b"/>
              <a:pathLst>
                <a:path w="4362450" h="9525">
                  <a:moveTo>
                    <a:pt x="0" y="0"/>
                  </a:moveTo>
                  <a:lnTo>
                    <a:pt x="43624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85800" y="5181600"/>
              <a:ext cx="742950" cy="2857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 w="9525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10196" y="526846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圆桌辩论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514475" y="5181600"/>
              <a:ext cx="857250" cy="285750"/>
            </a:xfrm>
            <a:prstGeom prst="roundRect">
              <a:avLst>
                <a:gd name="adj" fmla="val 50000"/>
              </a:avLst>
            </a:prstGeom>
            <a:solidFill>
              <a:srgbClr val="5E7093">
                <a:alpha val="10000"/>
              </a:srgbClr>
            </a:solidFill>
            <a:ln w="9525">
              <a:solidFill>
                <a:srgbClr val="5E7093">
                  <a:alpha val="55000"/>
                </a:srgbClr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635442" y="526846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输出防火墙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2457450" y="5181600"/>
              <a:ext cx="742950" cy="285750"/>
            </a:xfrm>
            <a:prstGeom prst="roundRect">
              <a:avLst>
                <a:gd name="adj" fmla="val 50000"/>
              </a:avLst>
            </a:prstGeom>
            <a:solidFill>
              <a:srgbClr val="5E7093">
                <a:alpha val="10000"/>
              </a:srgbClr>
            </a:solidFill>
            <a:ln w="9525">
              <a:solidFill>
                <a:srgbClr val="5E7093">
                  <a:alpha val="55000"/>
                </a:srgbClr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2581846" y="526846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四级自愈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286125" y="5181600"/>
              <a:ext cx="742950" cy="285750"/>
            </a:xfrm>
            <a:prstGeom prst="roundRect">
              <a:avLst>
                <a:gd name="adj" fmla="val 50000"/>
              </a:avLst>
            </a:prstGeom>
            <a:solidFill>
              <a:srgbClr val="5E7093">
                <a:alpha val="10000"/>
              </a:srgbClr>
            </a:solidFill>
            <a:ln w="9525">
              <a:solidFill>
                <a:srgbClr val="5E7093">
                  <a:alpha val="55000"/>
                </a:srgbClr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410522" y="526846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经验记忆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4114800" y="5181600"/>
              <a:ext cx="978408" cy="285750"/>
            </a:xfrm>
            <a:prstGeom prst="roundRect">
              <a:avLst>
                <a:gd name="adj" fmla="val 50000"/>
              </a:avLst>
            </a:prstGeom>
            <a:solidFill>
              <a:srgbClr val="5E7093">
                <a:alpha val="10000"/>
              </a:srgbClr>
            </a:solidFill>
            <a:ln w="9525">
              <a:solidFill>
                <a:srgbClr val="5E7093">
                  <a:alpha val="55000"/>
                </a:srgbClr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228589" y="5268468"/>
              <a:ext cx="75082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全链路 Trace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114" name="Line 11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81038" y="6468189"/>
              <a:ext cx="196333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liufelix2004 / hermes-agentos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747566" y="6468189"/>
              <a:ext cx="76339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PITCH DECK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3143250" y="-2952750"/>
            <a:ext cx="18764250" cy="12382500"/>
            <a:chOff x="-3143250" y="-2952750"/>
            <a:chExt cx="18764250" cy="12382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5715000" y="-2952750"/>
              <a:ext cx="9906000" cy="7620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3143250" y="3714750"/>
              <a:ext cx="8001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282714" cy="989266"/>
            <a:chOff x="671322" y="645795"/>
            <a:chExt cx="6282714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1479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/ THE GAP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28271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一个 Agent 的答案，没人敢直接用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模型能力已经够用，缺的是一套让结论「可被质疑、可被推翻、可被验证」的机制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85800" y="2209800"/>
            <a:ext cx="10820400" cy="2286000"/>
            <a:chOff x="685800" y="2209800"/>
            <a:chExt cx="10820400" cy="228600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3403600" cy="2286000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4400" y="2212181"/>
              <a:ext cx="29464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38225" y="2505075"/>
              <a:ext cx="400050" cy="400050"/>
            </a:xfrm>
            <a:prstGeom prst="ellipse">
              <a:avLst/>
            </a:prstGeom>
            <a:noFill/>
            <a:ln w="13335">
              <a:solidFill>
                <a:srgbClr val="EF444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57109" y="26474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92580" y="2619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单点视角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1009650" y="3105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EF444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4697" y="3304699"/>
              <a:ext cx="2748026" cy="6174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一个模型一次推理就给结论，缺少对立面。它的盲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区就是整个系统的盲区，没有任何环节会提出反对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意见。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394200" y="2209800"/>
              <a:ext cx="3403600" cy="2286000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4622800" y="2212181"/>
              <a:ext cx="29464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4746625" y="2505075"/>
              <a:ext cx="400050" cy="400050"/>
            </a:xfrm>
            <a:prstGeom prst="ellipse">
              <a:avLst/>
            </a:prstGeom>
            <a:noFill/>
            <a:ln w="13335">
              <a:solidFill>
                <a:srgbClr val="F59E0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65509" y="26474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00980" y="2619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无从追责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4718050" y="3105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13097" y="3304699"/>
              <a:ext cx="2748026" cy="6174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答案是怎么来的、哪一步的判断出了问题、依据是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什么，全都藏在一次调用里，出错后无法定位到具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体环节。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102600" y="2209800"/>
              <a:ext cx="3403600" cy="2286000"/>
            </a:xfrm>
            <a:prstGeom prst="roundRect">
              <a:avLst>
                <a:gd name="adj" fmla="val 6667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31200" y="2212181"/>
              <a:ext cx="29464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8455025" y="2505075"/>
              <a:ext cx="400050" cy="400050"/>
            </a:xfrm>
            <a:prstGeom prst="ellipse">
              <a:avLst/>
            </a:prstGeom>
            <a:noFill/>
            <a:ln w="13335">
              <a:solidFill>
                <a:schemeClr val="accent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73909" y="264747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009380" y="2619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不敢落地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8426450" y="31051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21497" y="3304699"/>
              <a:ext cx="2872486" cy="404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没有质检闸门，输出好坏只能靠人肉复核。最后一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公里始终卡在「要不要相信它」，规模化无从谈起。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" y="4876800"/>
            <a:ext cx="10820400" cy="914400"/>
            <a:chOff x="685800" y="4876800"/>
            <a:chExt cx="10820400" cy="914400"/>
          </a:xfrm>
        </p:grpSpPr>
        <p:sp>
          <p:nvSpPr>
            <p:cNvPr id="65" name="Rectangle 65"/>
            <p:cNvSpPr/>
            <p:nvPr/>
          </p:nvSpPr>
          <p:spPr>
            <a:xfrm>
              <a:off x="685800" y="4876800"/>
              <a:ext cx="10820400" cy="914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21080" y="5095875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真正缺的，是让多个智能体先把问题「吵清楚」的场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3366" y="54302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对抗产生盲区覆盖，收敛产生可执行结论，质检产生可信度。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69" name="Line 6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62288" y="6468189"/>
              <a:ext cx="83878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为什么需要圆桌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1333500" y="-952500"/>
            <a:ext cx="16573500" cy="10096500"/>
            <a:chOff x="-1333500" y="-952500"/>
            <a:chExt cx="16573500" cy="10096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1333500" y="-952500"/>
              <a:ext cx="10668000" cy="9144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239000" y="304800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819150" y="1966722"/>
            <a:ext cx="5943600" cy="3573494"/>
            <a:chOff x="819150" y="1966722"/>
            <a:chExt cx="5943600" cy="3573494"/>
          </a:xfrm>
        </p:grpSpPr>
        <p:sp>
          <p:nvSpPr>
            <p:cNvPr id="6" name="Ellipse 6"/>
            <p:cNvSpPr/>
            <p:nvPr/>
          </p:nvSpPr>
          <p:spPr>
            <a:xfrm>
              <a:off x="819150" y="1966722"/>
              <a:ext cx="5943600" cy="3419856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19150" y="2368868"/>
              <a:ext cx="5943600" cy="2615565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504950" y="2771394"/>
              <a:ext cx="4572000" cy="2011680"/>
            </a:xfrm>
            <a:prstGeom prst="ellipse">
              <a:avLst/>
            </a:prstGeom>
            <a:solidFill>
              <a:srgbClr val="08122A">
                <a:alpha val="55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504950" y="2670810"/>
              <a:ext cx="4572000" cy="2011680"/>
            </a:xfrm>
            <a:prstGeom prst="ellipse">
              <a:avLst/>
            </a:prstGeom>
            <a:gradFill>
              <a:gsLst>
                <a:gs pos="0">
                  <a:srgbClr val="2C4C9E">
                    <a:alpha val="62000"/>
                  </a:srgbClr>
                </a:gs>
                <a:gs pos="60000">
                  <a:srgbClr val="16264C">
                    <a:alpha val="50000"/>
                  </a:srgbClr>
                </a:gs>
                <a:gs pos="100000">
                  <a:srgbClr val="0A1024">
                    <a:alpha val="34000"/>
                  </a:srgbClr>
                </a:gs>
              </a:gsLst>
              <a:path path="circle">
                <a:fillToRect l="50000" t="38000" r="50000" b="62000"/>
              </a:path>
            </a:gradFill>
            <a:ln w="13335">
              <a:solidFill>
                <a:schemeClr val="accent6">
                  <a:alpha val="70000"/>
                </a:scheme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373630" y="3053029"/>
              <a:ext cx="2834640" cy="1247242"/>
            </a:xfrm>
            <a:prstGeom prst="ellipse">
              <a:avLst/>
            </a:prstGeom>
            <a:noFill/>
            <a:ln w="9525">
              <a:solidFill>
                <a:srgbClr val="5E86F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790950" y="2368868"/>
              <a:ext cx="2296478" cy="654367"/>
            </a:xfrm>
            <a:custGeom>
              <a:avLst/>
              <a:gdLst/>
              <a:ahLst/>
              <a:cxnLst/>
              <a:rect l="l" t="t" r="r" b="b"/>
              <a:pathLst>
                <a:path w="2296478" h="654367">
                  <a:moveTo>
                    <a:pt x="0" y="0"/>
                  </a:moveTo>
                  <a:lnTo>
                    <a:pt x="2296478" y="65436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790950" y="2368868"/>
              <a:ext cx="2296478" cy="1961198"/>
            </a:xfrm>
            <a:custGeom>
              <a:avLst/>
              <a:gdLst/>
              <a:ahLst/>
              <a:cxnLst/>
              <a:rect l="l" t="t" r="r" b="b"/>
              <a:pathLst>
                <a:path w="2296478" h="1961198">
                  <a:moveTo>
                    <a:pt x="0" y="0"/>
                  </a:moveTo>
                  <a:lnTo>
                    <a:pt x="2296478" y="196119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790950" y="2368868"/>
              <a:ext cx="9525" cy="2615565"/>
            </a:xfrm>
            <a:custGeom>
              <a:avLst/>
              <a:gdLst/>
              <a:ahLst/>
              <a:cxnLst/>
              <a:rect l="l" t="t" r="r" b="b"/>
              <a:pathLst>
                <a:path w="9525" h="2615565">
                  <a:moveTo>
                    <a:pt x="0" y="0"/>
                  </a:moveTo>
                  <a:lnTo>
                    <a:pt x="0" y="2615565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494472" y="2368868"/>
              <a:ext cx="2296478" cy="1961198"/>
            </a:xfrm>
            <a:custGeom>
              <a:avLst/>
              <a:gdLst/>
              <a:ahLst/>
              <a:cxnLst/>
              <a:rect l="l" t="t" r="r" b="b"/>
              <a:pathLst>
                <a:path w="2296478" h="1961198">
                  <a:moveTo>
                    <a:pt x="2296478" y="0"/>
                  </a:moveTo>
                  <a:lnTo>
                    <a:pt x="0" y="196119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1494472" y="2368868"/>
              <a:ext cx="2296478" cy="654367"/>
            </a:xfrm>
            <a:custGeom>
              <a:avLst/>
              <a:gdLst/>
              <a:ahLst/>
              <a:cxnLst/>
              <a:rect l="l" t="t" r="r" b="b"/>
              <a:pathLst>
                <a:path w="2296478" h="654367">
                  <a:moveTo>
                    <a:pt x="2296478" y="0"/>
                  </a:moveTo>
                  <a:lnTo>
                    <a:pt x="0" y="65436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87428" y="3023235"/>
              <a:ext cx="9525" cy="1306830"/>
            </a:xfrm>
            <a:custGeom>
              <a:avLst/>
              <a:gdLst/>
              <a:ahLst/>
              <a:cxnLst/>
              <a:rect l="l" t="t" r="r" b="b"/>
              <a:pathLst>
                <a:path w="9525" h="1306830">
                  <a:moveTo>
                    <a:pt x="0" y="0"/>
                  </a:moveTo>
                  <a:lnTo>
                    <a:pt x="0" y="130683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790950" y="3023235"/>
              <a:ext cx="2296478" cy="1961197"/>
            </a:xfrm>
            <a:custGeom>
              <a:avLst/>
              <a:gdLst/>
              <a:ahLst/>
              <a:cxnLst/>
              <a:rect l="l" t="t" r="r" b="b"/>
              <a:pathLst>
                <a:path w="2296478" h="1961197">
                  <a:moveTo>
                    <a:pt x="2296478" y="0"/>
                  </a:moveTo>
                  <a:lnTo>
                    <a:pt x="0" y="196119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494472" y="3023235"/>
              <a:ext cx="4592955" cy="1306830"/>
            </a:xfrm>
            <a:custGeom>
              <a:avLst/>
              <a:gdLst/>
              <a:ahLst/>
              <a:cxnLst/>
              <a:rect l="l" t="t" r="r" b="b"/>
              <a:pathLst>
                <a:path w="4592955" h="1306830">
                  <a:moveTo>
                    <a:pt x="4592955" y="0"/>
                  </a:moveTo>
                  <a:lnTo>
                    <a:pt x="0" y="130683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494472" y="3023235"/>
              <a:ext cx="4592955" cy="9525"/>
            </a:xfrm>
            <a:custGeom>
              <a:avLst/>
              <a:gdLst/>
              <a:ahLst/>
              <a:cxnLst/>
              <a:rect l="l" t="t" r="r" b="b"/>
              <a:pathLst>
                <a:path w="4592955" h="9525">
                  <a:moveTo>
                    <a:pt x="45929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790950" y="4330065"/>
              <a:ext cx="2296478" cy="654367"/>
            </a:xfrm>
            <a:custGeom>
              <a:avLst/>
              <a:gdLst/>
              <a:ahLst/>
              <a:cxnLst/>
              <a:rect l="l" t="t" r="r" b="b"/>
              <a:pathLst>
                <a:path w="2296478" h="654367">
                  <a:moveTo>
                    <a:pt x="2296478" y="0"/>
                  </a:moveTo>
                  <a:lnTo>
                    <a:pt x="0" y="65436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494472" y="4330065"/>
              <a:ext cx="4592955" cy="9525"/>
            </a:xfrm>
            <a:custGeom>
              <a:avLst/>
              <a:gdLst/>
              <a:ahLst/>
              <a:cxnLst/>
              <a:rect l="l" t="t" r="r" b="b"/>
              <a:pathLst>
                <a:path w="4592955" h="9525">
                  <a:moveTo>
                    <a:pt x="45929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494472" y="3023235"/>
              <a:ext cx="4592955" cy="1306830"/>
            </a:xfrm>
            <a:custGeom>
              <a:avLst/>
              <a:gdLst/>
              <a:ahLst/>
              <a:cxnLst/>
              <a:rect l="l" t="t" r="r" b="b"/>
              <a:pathLst>
                <a:path w="4592955" h="1306830">
                  <a:moveTo>
                    <a:pt x="4592955" y="130683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494472" y="4330065"/>
              <a:ext cx="2296478" cy="654367"/>
            </a:xfrm>
            <a:custGeom>
              <a:avLst/>
              <a:gdLst/>
              <a:ahLst/>
              <a:cxnLst/>
              <a:rect l="l" t="t" r="r" b="b"/>
              <a:pathLst>
                <a:path w="2296478" h="654367">
                  <a:moveTo>
                    <a:pt x="2296478" y="65436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494472" y="3023235"/>
              <a:ext cx="2296478" cy="1961197"/>
            </a:xfrm>
            <a:custGeom>
              <a:avLst/>
              <a:gdLst/>
              <a:ahLst/>
              <a:cxnLst/>
              <a:rect l="l" t="t" r="r" b="b"/>
              <a:pathLst>
                <a:path w="2296478" h="1961197">
                  <a:moveTo>
                    <a:pt x="2296478" y="1961197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494472" y="3023235"/>
              <a:ext cx="9525" cy="1306830"/>
            </a:xfrm>
            <a:custGeom>
              <a:avLst/>
              <a:gdLst/>
              <a:ahLst/>
              <a:cxnLst/>
              <a:rect l="l" t="t" r="r" b="b"/>
              <a:pathLst>
                <a:path w="9525" h="1306830">
                  <a:moveTo>
                    <a:pt x="0" y="130683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71304" y="34956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议题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91817" y="3782139"/>
              <a:ext cx="39826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TOPIC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629025" y="2206942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723322" y="2301240"/>
              <a:ext cx="135255" cy="135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595364" y="1995488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66574" y="2162651"/>
              <a:ext cx="64875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MODERATOR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925502" y="2861310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366F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019800" y="2955607"/>
              <a:ext cx="135255" cy="135255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91841" y="264985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5068" y="2817019"/>
              <a:ext cx="5247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RESEARCH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712142" y="3954780"/>
              <a:ext cx="750570" cy="75057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815012" y="4057650"/>
              <a:ext cx="544830" cy="544830"/>
            </a:xfrm>
            <a:prstGeom prst="ellipse">
              <a:avLst/>
            </a:prstGeom>
            <a:noFill/>
            <a:ln w="11430">
              <a:solidFill>
                <a:srgbClr val="F59E0B">
                  <a:alpha val="55000"/>
                </a:srgb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5899785" y="4142423"/>
              <a:ext cx="375285" cy="375285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008370" y="4251008"/>
              <a:ext cx="158115" cy="15811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91841" y="4611052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58068" y="4778216"/>
              <a:ext cx="45871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ANALYST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3629025" y="4822508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723322" y="4916805"/>
              <a:ext cx="135255" cy="135255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95364" y="5239702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撰稿员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597008" y="5406866"/>
              <a:ext cx="3878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WRITER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1332548" y="4168140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3B82F6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426845" y="4262438"/>
              <a:ext cx="135255" cy="13525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298886" y="458533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64112" y="4752499"/>
              <a:ext cx="2607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332548" y="2861310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EF4444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426845" y="2955607"/>
              <a:ext cx="135255" cy="13525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98886" y="2649855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验证员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01532" y="2817019"/>
              <a:ext cx="5858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VALIDATOR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916674" y="1141095"/>
            <a:ext cx="4110101" cy="4194525"/>
            <a:chOff x="6916674" y="1141095"/>
            <a:chExt cx="4110101" cy="4194525"/>
          </a:xfrm>
        </p:grpSpPr>
        <p:sp>
          <p:nvSpPr>
            <p:cNvPr id="55" name="TextBox 55"/>
            <p:cNvSpPr txBox="1"/>
            <p:nvPr/>
          </p:nvSpPr>
          <p:spPr>
            <a:xfrm>
              <a:off x="6929438" y="1141095"/>
              <a:ext cx="14925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 / THE ANSWER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16674" y="1551622"/>
              <a:ext cx="1658135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AI 圆桌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24675" y="21788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gradFill>
                    <a:gsLst>
                      <a:gs pos="0">
                        <a:srgbClr val="6E8CFF"/>
                      </a:gs>
                      <a:gs pos="52000">
                        <a:srgbClr val="A78BFA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让分歧先发生在系统内部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934200" y="2686050"/>
              <a:ext cx="838200" cy="9525"/>
            </a:xfrm>
            <a:custGeom>
              <a:avLst/>
              <a:gdLst/>
              <a:ahLst/>
              <a:cxnLst/>
              <a:rect l="l" t="t" r="r" b="b"/>
              <a:pathLst>
                <a:path w="838200" h="9525">
                  <a:moveTo>
                    <a:pt x="0" y="0"/>
                  </a:moveTo>
                  <a:lnTo>
                    <a:pt x="838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972300" y="298132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94423" y="29294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同席不同责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195947" y="3209449"/>
              <a:ext cx="3743706" cy="3945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05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七个智能体各自带着专业视角入场，数据、调研、分析、撰写、质检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互相独立，天然形成交叉验证。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972300" y="3847148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94423" y="3795236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有立场地发言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195947" y="4075271"/>
              <a:ext cx="3830828" cy="3945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05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每次发言都带明确立场标签：提案、质疑、补充、收敛 —— 系统鼓励反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对，而不是附和。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972300" y="471297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94423" y="466105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主持人负责收口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95947" y="4941094"/>
              <a:ext cx="3799713" cy="3945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05"/>
                </a:lnSpc>
              </a:pPr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Moderator 控制议程与轮次，强制在三轮内产出结论，杜绝多智能体</a:t>
              </a:r>
              <a:br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讨论常见的发散不收尾。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69" name="Line 6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062288" y="6468189"/>
              <a:ext cx="110648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核心主张 · AI 圆桌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762250" y="-2762250"/>
            <a:ext cx="18383250" cy="12096750"/>
            <a:chOff x="-2762250" y="-2762250"/>
            <a:chExt cx="18383250" cy="12096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96000" y="-2762250"/>
              <a:ext cx="9525000" cy="7620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762250" y="3619500"/>
              <a:ext cx="7620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474562" cy="989266"/>
            <a:chOff x="671322" y="645795"/>
            <a:chExt cx="6474562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8187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圆桌 01 / MECHANISM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四个阶段，把一场讨论变成一次交付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910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Moderator 全程掌舵：先定标准，再收集观点，然后合成方案，最后交给质检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85800" y="2247900"/>
            <a:ext cx="10820400" cy="2381250"/>
            <a:chOff x="685800" y="2247900"/>
            <a:chExt cx="10820400" cy="2381250"/>
          </a:xfrm>
        </p:grpSpPr>
        <p:sp>
          <p:nvSpPr>
            <p:cNvPr id="43" name="Rectangle 43"/>
            <p:cNvSpPr/>
            <p:nvPr/>
          </p:nvSpPr>
          <p:spPr>
            <a:xfrm>
              <a:off x="685800" y="2247900"/>
              <a:ext cx="2519362" cy="2381250"/>
            </a:xfrm>
            <a:prstGeom prst="roundRect">
              <a:avLst>
                <a:gd name="adj" fmla="val 640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" y="2250281"/>
              <a:ext cx="2100262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52500" y="2533650"/>
              <a:ext cx="438150" cy="247650"/>
            </a:xfrm>
            <a:prstGeom prst="roundRect">
              <a:avLst>
                <a:gd name="adj" fmla="val 23077"/>
              </a:avLst>
            </a:prstGeom>
            <a:solidFill>
              <a:schemeClr val="accent2">
                <a:alpha val="14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6844" y="26079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00188" y="2620089"/>
              <a:ext cx="34322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GOAL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43356" y="3006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目标确认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52500" y="34480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7547" y="3647599"/>
              <a:ext cx="2001266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主持人开场即锁定议题、成功标准与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轮次上限，讨论有边界才收得住。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3243262" y="3438525"/>
              <a:ext cx="1524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452812" y="2247900"/>
              <a:ext cx="2519362" cy="2381250"/>
            </a:xfrm>
            <a:prstGeom prst="roundRect">
              <a:avLst>
                <a:gd name="adj" fmla="val 640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3662362" y="2250281"/>
              <a:ext cx="2100262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719512" y="2533650"/>
              <a:ext cx="438150" cy="247650"/>
            </a:xfrm>
            <a:prstGeom prst="roundRect">
              <a:avLst>
                <a:gd name="adj" fmla="val 23077"/>
              </a:avLst>
            </a:prstGeom>
            <a:solidFill>
              <a:srgbClr val="6366F1">
                <a:alpha val="14000"/>
              </a:srgbClr>
            </a:solidFill>
            <a:ln w="9525">
              <a:solidFill>
                <a:srgbClr val="6366F1">
                  <a:alpha val="50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863856" y="26079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267200" y="2620089"/>
              <a:ext cx="48702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DEBATE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10368" y="3006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多轮发言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3719512" y="34480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6366F1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714560" y="3647599"/>
              <a:ext cx="2001266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参与者按序表态，第二轮起被指派质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疑或补充，强制产生对立面。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6010275" y="3438525"/>
              <a:ext cx="1524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19825" y="2247900"/>
              <a:ext cx="2519362" cy="2381250"/>
            </a:xfrm>
            <a:prstGeom prst="roundRect">
              <a:avLst>
                <a:gd name="adj" fmla="val 640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29375" y="2250281"/>
              <a:ext cx="2100262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86525" y="2533650"/>
              <a:ext cx="438150" cy="247650"/>
            </a:xfrm>
            <a:prstGeom prst="roundRect">
              <a:avLst>
                <a:gd name="adj" fmla="val 23077"/>
              </a:avLst>
            </a:prstGeom>
            <a:solidFill>
              <a:schemeClr val="accent3">
                <a:alpha val="14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30869" y="26079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34212" y="2620089"/>
              <a:ext cx="70835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SYNTHESIS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477381" y="3006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共识合成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6486525" y="34480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81572" y="3647599"/>
              <a:ext cx="2001266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主持人汇总共识与分歧，产出最终方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案、执行任务与风险清单。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8777288" y="3438525"/>
              <a:ext cx="1524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986838" y="2247900"/>
              <a:ext cx="2519362" cy="2381250"/>
            </a:xfrm>
            <a:prstGeom prst="roundRect">
              <a:avLst>
                <a:gd name="adj" fmla="val 640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196388" y="2250281"/>
              <a:ext cx="2100262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253538" y="2533650"/>
              <a:ext cx="438150" cy="247650"/>
            </a:xfrm>
            <a:prstGeom prst="roundRect">
              <a:avLst>
                <a:gd name="adj" fmla="val 23077"/>
              </a:avLst>
            </a:prstGeom>
            <a:solidFill>
              <a:srgbClr val="10B981">
                <a:alpha val="14000"/>
              </a:srgbClr>
            </a:solidFill>
            <a:ln w="9525">
              <a:solidFill>
                <a:srgbClr val="10B981">
                  <a:alpha val="50000"/>
                </a:srgbClr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97881" y="26079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801225" y="2620089"/>
              <a:ext cx="64768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FIREWALL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44394" y="3006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出口质检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9253538" y="34480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10B981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248584" y="3647599"/>
              <a:ext cx="2007489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共识必须通过 Validator 四维评分，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不合格则回炉重修而非直接发布。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85800" y="4914900"/>
            <a:ext cx="10820400" cy="876300"/>
            <a:chOff x="685800" y="4914900"/>
            <a:chExt cx="10820400" cy="876300"/>
          </a:xfrm>
        </p:grpSpPr>
        <p:sp>
          <p:nvSpPr>
            <p:cNvPr id="79" name="Rectangle 79"/>
            <p:cNvSpPr/>
            <p:nvPr/>
          </p:nvSpPr>
          <p:spPr>
            <a:xfrm>
              <a:off x="685800" y="4914900"/>
              <a:ext cx="10820400" cy="876300"/>
            </a:xfrm>
            <a:prstGeom prst="roundRect">
              <a:avLst>
                <a:gd name="adj" fmla="val 17391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03173" y="5120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收敛保证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1943100" y="50673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185797" y="5095399"/>
              <a:ext cx="707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轮次上限硬编码为 3 —— 讨论可以激烈，但必须在第三轮结束前交出结论。主持人不是参与者，它只负责让会议开出结果。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84" name="Line 8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062288" y="6468189"/>
              <a:ext cx="100349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圆桌机制 · 四阶段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762250" y="-1714500"/>
            <a:ext cx="18097500" cy="11239500"/>
            <a:chOff x="-2762250" y="-1714500"/>
            <a:chExt cx="18097500" cy="11239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572250" y="2286000"/>
              <a:ext cx="8763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762250" y="-1714500"/>
              <a:ext cx="7620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5668861" cy="989266"/>
            <a:chOff x="671322" y="645795"/>
            <a:chExt cx="5668861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374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圆桌 02 / SEATS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谁上桌，以及他们被允许说什么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角色决定视角，立场标签决定发言的性质 —— 两者共同保证讨论不会变成附和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85800" y="2209800"/>
            <a:ext cx="6057900" cy="3905250"/>
            <a:chOff x="685800" y="2209800"/>
            <a:chExt cx="6057900" cy="390525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85825" y="23241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962025" y="24003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1585" y="23741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38338" y="2410539"/>
              <a:ext cx="76972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MODERATOR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819400" y="23336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043047" y="2390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定标准、控轮次、做最终合成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5800" y="27813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85825" y="28956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366F1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962025" y="2971800"/>
              <a:ext cx="95250" cy="9525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251585" y="29456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938338" y="2982039"/>
              <a:ext cx="62343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RESEARCH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2819400" y="29051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43047" y="29617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行业动态、政策与供需研判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5800" y="33528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85825" y="34671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962025" y="3543300"/>
              <a:ext cx="95250" cy="95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51585" y="35171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938338" y="3553539"/>
              <a:ext cx="54456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ANALYST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819400" y="34766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043047" y="3533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指标解读、洞察与分阶段建议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5800" y="39243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85825" y="40386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62025" y="4114800"/>
              <a:ext cx="95250" cy="952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251585" y="40886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撰稿员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38338" y="4125039"/>
              <a:ext cx="46007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WRITER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2819400" y="40481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043047" y="41047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结构化表达与成稿输出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5800" y="44958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85825" y="46101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3B82F6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62025" y="4686300"/>
              <a:ext cx="95250" cy="9525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51585" y="46601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938338" y="4696539"/>
              <a:ext cx="30794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2819400" y="46196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043047" y="46762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数据采集、口径与置信度标注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85800" y="50673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85825" y="51816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EF4444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62025" y="5257800"/>
              <a:ext cx="95250" cy="9525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251585" y="52316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验证员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938338" y="5268039"/>
              <a:ext cx="69668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VALIDATOR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2819400" y="51911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043047" y="52477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出口质检，四维评分一票否决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85800" y="5638800"/>
              <a:ext cx="6057900" cy="476250"/>
            </a:xfrm>
            <a:prstGeom prst="roundRect">
              <a:avLst>
                <a:gd name="adj" fmla="val 24000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885825" y="5753100"/>
              <a:ext cx="247650" cy="2476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4748B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962025" y="5829300"/>
              <a:ext cx="95250" cy="95250"/>
            </a:xfrm>
            <a:prstGeom prst="ellipse">
              <a:avLst/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251585" y="58031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回滚员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938338" y="5839539"/>
              <a:ext cx="64590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20" dirty="0">
                  <a:solidFill>
                    <a:srgbClr val="64748B"/>
                  </a:solidFill>
                  <a:latin typeface="Consolas"/>
                  <a:ea typeface="Consolas"/>
                  <a:cs typeface="Consolas"/>
                </a:rPr>
                <a:t>ROLLBACK</a:t>
              </a:r>
            </a:p>
          </p:txBody>
        </p:sp>
        <p:sp>
          <p:nvSpPr>
            <p:cNvPr id="90" name="Line 90"/>
            <p:cNvSpPr/>
            <p:nvPr/>
          </p:nvSpPr>
          <p:spPr>
            <a:xfrm>
              <a:off x="2819400" y="5762625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043047" y="58192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失败接管，决策恢复策略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048500" y="2209800"/>
            <a:ext cx="4457700" cy="2247900"/>
            <a:chOff x="7048500" y="2209800"/>
            <a:chExt cx="4457700" cy="2247900"/>
          </a:xfrm>
        </p:grpSpPr>
        <p:sp>
          <p:nvSpPr>
            <p:cNvPr id="93" name="Rectangle 93"/>
            <p:cNvSpPr/>
            <p:nvPr/>
          </p:nvSpPr>
          <p:spPr>
            <a:xfrm>
              <a:off x="7048500" y="2209800"/>
              <a:ext cx="4457700" cy="2247900"/>
            </a:xfrm>
            <a:prstGeom prst="roundRect">
              <a:avLst>
                <a:gd name="adj" fmla="val 6780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329488" y="2448639"/>
              <a:ext cx="94988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STANCE TAGS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325106" y="2682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发言必须表态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334250" y="3124200"/>
              <a:ext cx="85725" cy="85725"/>
            </a:xfrm>
            <a:prstGeom prst="roundRect">
              <a:avLst>
                <a:gd name="adj" fmla="val 22222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519988" y="3112770"/>
              <a:ext cx="4993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propose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453247" y="31046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提案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334250" y="3371850"/>
              <a:ext cx="85725" cy="85725"/>
            </a:xfrm>
            <a:prstGeom prst="roundRect">
              <a:avLst>
                <a:gd name="adj" fmla="val 22222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519988" y="3360420"/>
              <a:ext cx="5756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challenge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53247" y="33523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质疑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7334250" y="3619500"/>
              <a:ext cx="85725" cy="85725"/>
            </a:xfrm>
            <a:prstGeom prst="roundRect">
              <a:avLst>
                <a:gd name="adj" fmla="val 2222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519988" y="3608070"/>
              <a:ext cx="7028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supplement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453247" y="35999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7334250" y="3867150"/>
              <a:ext cx="85725" cy="85725"/>
            </a:xfrm>
            <a:prstGeom prst="roundRect">
              <a:avLst>
                <a:gd name="adj" fmla="val 2222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519988" y="3855720"/>
              <a:ext cx="59471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moderate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453247" y="38476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主持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334250" y="4114800"/>
              <a:ext cx="85725" cy="85725"/>
            </a:xfrm>
            <a:prstGeom prst="roundRect">
              <a:avLst>
                <a:gd name="adj" fmla="val 22222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519988" y="4103370"/>
              <a:ext cx="6774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synthesize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453247" y="40952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收敛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048500" y="4667250"/>
            <a:ext cx="4457700" cy="1123950"/>
            <a:chOff x="7048500" y="4667250"/>
            <a:chExt cx="4457700" cy="1123950"/>
          </a:xfrm>
        </p:grpSpPr>
        <p:sp>
          <p:nvSpPr>
            <p:cNvPr id="112" name="Rectangle 112"/>
            <p:cNvSpPr/>
            <p:nvPr/>
          </p:nvSpPr>
          <p:spPr>
            <a:xfrm>
              <a:off x="7048500" y="4667250"/>
              <a:ext cx="4457700" cy="1123950"/>
            </a:xfrm>
            <a:prstGeom prst="roundRect">
              <a:avLst>
                <a:gd name="adj" fmla="val 13559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328535" y="4869656"/>
              <a:ext cx="19111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第二轮起强制分派对立立场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329488" y="5141595"/>
              <a:ext cx="3895725" cy="36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85"/>
                </a:lnSpc>
              </a:pPr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同一批智能体在第二轮被轮流指派为质疑方与补充方，确保每个提案都至少被</a:t>
              </a:r>
              <a:br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正面挑战过一次。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116" name="Line 11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3062288" y="6468189"/>
              <a:ext cx="83878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圆桌角色与立场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0" y="-2762250"/>
            <a:ext cx="15049500" cy="12096750"/>
            <a:chOff x="0" y="-2762250"/>
            <a:chExt cx="15049500" cy="12096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90500" y="-2762250"/>
              <a:ext cx="11811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048500" y="323850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071711" cy="989266"/>
            <a:chOff x="671322" y="645795"/>
            <a:chExt cx="6071711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4807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圆桌 03 / DEBATE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07171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三轮辩论：从各说各话到互相咬合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同一个议题在三轮里被反复挤压，观点的质量在对抗中提升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85800" y="2209800"/>
            <a:ext cx="10820400" cy="3486150"/>
            <a:chOff x="685800" y="2209800"/>
            <a:chExt cx="10820400" cy="348615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3416300" cy="3486150"/>
            </a:xfrm>
            <a:prstGeom prst="roundRect">
              <a:avLst>
                <a:gd name="adj" fmla="val 446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14400" y="22121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7738" y="2448639"/>
              <a:ext cx="6114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ROUND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3356" y="2682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各自提案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44800" y="264795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6366F1">
                <a:alpha val="10000"/>
              </a:srgbClr>
            </a:solidFill>
            <a:ln w="9525">
              <a:solidFill>
                <a:srgbClr val="6366F1">
                  <a:alpha val="55000"/>
                </a:srgbClr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30614" y="2724483"/>
              <a:ext cx="41897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6366F1"/>
                  </a:solidFill>
                  <a:latin typeface="+mn-lt"/>
                  <a:ea typeface="+mn-ea"/>
                  <a:cs typeface="+mn-cs"/>
                </a:rPr>
                <a:t>propose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52500" y="3067050"/>
              <a:ext cx="2882900" cy="9525"/>
            </a:xfrm>
            <a:custGeom>
              <a:avLst/>
              <a:gdLst/>
              <a:ahLst/>
              <a:cxnLst/>
              <a:rect l="l" t="t" r="r" b="b"/>
              <a:pathLst>
                <a:path w="2882900" h="9525">
                  <a:moveTo>
                    <a:pt x="0" y="0"/>
                  </a:moveTo>
                  <a:lnTo>
                    <a:pt x="2882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66788" y="3262312"/>
              <a:ext cx="66675" cy="6667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18997" y="32284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B82F6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9188" y="3427095"/>
              <a:ext cx="2553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给出装机、渗透率与价格口径，标注每项置信度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966788" y="3767138"/>
              <a:ext cx="66675" cy="66675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8997" y="373332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6366F1"/>
                  </a:solidFill>
                  <a:latin typeface="+mn-lt"/>
                  <a:ea typeface="+mn-ea"/>
                  <a:cs typeface="+mn-cs"/>
                </a:rPr>
                <a:t>研究员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9188" y="3931920"/>
              <a:ext cx="2553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梳理政策与供需变化，指出三条主线的驱动差异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966788" y="4271962"/>
              <a:ext cx="66675" cy="6667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18997" y="423814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59E0B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9188" y="443674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基于数据提出优先级判断与分阶段建议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966788" y="4776788"/>
              <a:ext cx="66675" cy="66675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18997" y="474297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撰稿员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9188" y="494157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将初步结论组织为可读的方案骨架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4140200" y="3943350"/>
              <a:ext cx="17145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387850" y="2209800"/>
              <a:ext cx="3416300" cy="3486150"/>
            </a:xfrm>
            <a:prstGeom prst="roundRect">
              <a:avLst>
                <a:gd name="adj" fmla="val 446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4616450" y="22121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649788" y="2448639"/>
              <a:ext cx="6114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ROUND 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645406" y="2682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交叉质疑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546850" y="264795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>
                  <a:alpha val="55000"/>
                </a:srgbClr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00759" y="2724483"/>
              <a:ext cx="48278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challenge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4654550" y="3067050"/>
              <a:ext cx="2882900" cy="9525"/>
            </a:xfrm>
            <a:custGeom>
              <a:avLst/>
              <a:gdLst/>
              <a:ahLst/>
              <a:cxnLst/>
              <a:rect l="l" t="t" r="r" b="b"/>
              <a:pathLst>
                <a:path w="2882900" h="9525">
                  <a:moveTo>
                    <a:pt x="0" y="0"/>
                  </a:moveTo>
                  <a:lnTo>
                    <a:pt x="2882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4668838" y="3262312"/>
              <a:ext cx="66675" cy="6667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821047" y="32284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质疑方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21238" y="3427095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指出增速口径与基数效应混淆，要求重新界定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4668838" y="3767138"/>
              <a:ext cx="66675" cy="666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821047" y="373332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补充方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821238" y="3931920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补上政策退坡的时间窗，修正节奏判断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4668838" y="4271962"/>
              <a:ext cx="66675" cy="6667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821047" y="423814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质疑方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821238" y="4436745"/>
              <a:ext cx="243268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挑战「优先储能」的前提，要求给出反例条件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4668838" y="4776788"/>
              <a:ext cx="66675" cy="666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821047" y="474297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补充方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821238" y="4941570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追加风险项与触发式调整条件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7842250" y="3943350"/>
              <a:ext cx="17145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089900" y="2209800"/>
              <a:ext cx="3416300" cy="3486150"/>
            </a:xfrm>
            <a:prstGeom prst="roundRect">
              <a:avLst>
                <a:gd name="adj" fmla="val 446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8318500" y="22121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351838" y="2448639"/>
              <a:ext cx="6114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ROUND 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47456" y="2682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收束补强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248900" y="2647950"/>
              <a:ext cx="990600" cy="24765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0000"/>
              </a:schemeClr>
            </a:solidFill>
            <a:ln w="9525">
              <a:solidFill>
                <a:schemeClr val="accent3">
                  <a:alpha val="55000"/>
                </a:schemeClr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449634" y="2724483"/>
              <a:ext cx="58913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supplement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356600" y="3067050"/>
              <a:ext cx="2882900" cy="9525"/>
            </a:xfrm>
            <a:custGeom>
              <a:avLst/>
              <a:gdLst/>
              <a:ahLst/>
              <a:cxnLst/>
              <a:rect l="l" t="t" r="r" b="b"/>
              <a:pathLst>
                <a:path w="2882900" h="9525">
                  <a:moveTo>
                    <a:pt x="0" y="0"/>
                  </a:moveTo>
                  <a:lnTo>
                    <a:pt x="2882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370888" y="3262312"/>
              <a:ext cx="66675" cy="66675"/>
            </a:xfrm>
            <a:prstGeom prst="ellipse">
              <a:avLst/>
            </a:prstGeom>
            <a:solidFill>
              <a:srgbClr val="5E7093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523097" y="32284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全体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523288" y="342709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围绕存活下来的方案补齐执行细节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8370888" y="3767138"/>
              <a:ext cx="66675" cy="6667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523097" y="373332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59E0B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523288" y="3931920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把判断转成可执行的阶段划分与观察指标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8370888" y="4271962"/>
              <a:ext cx="66675" cy="6667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523097" y="423814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3B82F6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523288" y="443674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确认每条结论都有据可查、来源可标注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8370888" y="4776788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523097" y="474297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主持人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523288" y="494157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宣布进入合成阶段，停止新增议题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103" name="Line 10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3062288" y="6468189"/>
              <a:ext cx="47732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三轮辩论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06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857500" y="-2762250"/>
            <a:ext cx="18383250" cy="12096750"/>
            <a:chOff x="-2857500" y="-2762250"/>
            <a:chExt cx="18383250" cy="12096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00750" y="-2762250"/>
              <a:ext cx="9525000" cy="7620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857500" y="323850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5668861" cy="989266"/>
            <a:chOff x="671322" y="645795"/>
            <a:chExt cx="5668861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7649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圆桌 04 / SYNTHESIS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收敛：一份四段式的结构化交付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主持人不复述讨论，而是把讨论压缩成能直接派工的结果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85800" y="2209800"/>
            <a:ext cx="4476750" cy="2743200"/>
            <a:chOff x="685800" y="2209800"/>
            <a:chExt cx="4476750" cy="274320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4476750" cy="2743200"/>
            </a:xfrm>
            <a:prstGeom prst="roundRect">
              <a:avLst>
                <a:gd name="adj" fmla="val 5556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7738" y="2448639"/>
              <a:ext cx="137287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SYNTHESIS FUNNEL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3450" y="2876550"/>
              <a:ext cx="2857500" cy="361950"/>
            </a:xfrm>
            <a:prstGeom prst="roundRect">
              <a:avLst>
                <a:gd name="adj" fmla="val 21053"/>
              </a:avLst>
            </a:prstGeom>
            <a:solidFill>
              <a:srgbClr val="5E7093">
                <a:alpha val="12000"/>
              </a:srgbClr>
            </a:solidFill>
            <a:ln w="9525">
              <a:solidFill>
                <a:srgbClr val="5E7093">
                  <a:alpha val="45000"/>
                </a:srgb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99566" y="29918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全部发言记录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38942" y="3007995"/>
              <a:ext cx="5426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段观点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362200" y="3257550"/>
              <a:ext cx="1" cy="133350"/>
            </a:xfrm>
            <a:prstGeom prst="line">
              <a:avLst/>
            </a:prstGeom>
            <a:noFill/>
            <a:ln w="1143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123950" y="3409950"/>
              <a:ext cx="2476500" cy="361950"/>
            </a:xfrm>
            <a:prstGeom prst="roundRect">
              <a:avLst>
                <a:gd name="adj" fmla="val 21053"/>
              </a:avLst>
            </a:prstGeom>
            <a:solidFill>
              <a:srgbClr val="6366F1">
                <a:alpha val="12000"/>
              </a:srgbClr>
            </a:solidFill>
            <a:ln w="9525">
              <a:solidFill>
                <a:srgbClr val="6366F1">
                  <a:alpha val="45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290066" y="35252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识别共识与分歧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266248" y="35413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谁反对什么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2362200" y="3790950"/>
              <a:ext cx="1" cy="133350"/>
            </a:xfrm>
            <a:prstGeom prst="line">
              <a:avLst/>
            </a:prstGeom>
            <a:noFill/>
            <a:ln w="1143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314450" y="3943350"/>
              <a:ext cx="2095500" cy="361950"/>
            </a:xfrm>
            <a:prstGeom prst="roundRect">
              <a:avLst>
                <a:gd name="adj" fmla="val 21053"/>
              </a:avLst>
            </a:prstGeom>
            <a:solidFill>
              <a:schemeClr val="accent2">
                <a:alpha val="12000"/>
              </a:schemeClr>
            </a:solidFill>
            <a:ln w="9525">
              <a:solidFill>
                <a:schemeClr val="accent2">
                  <a:alpha val="45000"/>
                </a:scheme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80566" y="40586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压缩为最终方案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145090" y="40747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只留可辩护的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2362200" y="4324350"/>
              <a:ext cx="1" cy="133350"/>
            </a:xfrm>
            <a:prstGeom prst="line">
              <a:avLst/>
            </a:prstGeom>
            <a:noFill/>
            <a:ln w="1143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504950" y="4476750"/>
              <a:ext cx="1714500" cy="361950"/>
            </a:xfrm>
            <a:prstGeom prst="roundRect">
              <a:avLst>
                <a:gd name="adj" fmla="val 21053"/>
              </a:avLst>
            </a:prstGeom>
            <a:solidFill>
              <a:srgbClr val="10B981">
                <a:alpha val="12000"/>
              </a:srgbClr>
            </a:solidFill>
            <a:ln w="9525">
              <a:solidFill>
                <a:srgbClr val="10B981">
                  <a:alpha val="45000"/>
                </a:srgbClr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671066" y="45920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拆解为执行任务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266248" y="46081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可直接派工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429250" y="2209800"/>
            <a:ext cx="6076950" cy="2724150"/>
            <a:chOff x="5429250" y="2209800"/>
            <a:chExt cx="6076950" cy="2724150"/>
          </a:xfrm>
        </p:grpSpPr>
        <p:sp>
          <p:nvSpPr>
            <p:cNvPr id="61" name="Rectangle 61"/>
            <p:cNvSpPr/>
            <p:nvPr/>
          </p:nvSpPr>
          <p:spPr>
            <a:xfrm>
              <a:off x="5429250" y="2209800"/>
              <a:ext cx="2905125" cy="1276350"/>
            </a:xfrm>
            <a:prstGeom prst="roundRect">
              <a:avLst>
                <a:gd name="adj" fmla="val 10448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657850" y="245745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821680" y="23812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53088" y="2727484"/>
              <a:ext cx="7336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AGREEMENTS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653088" y="2969895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各智能体确认的判断，附贡献归属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601075" y="2209800"/>
              <a:ext cx="2905125" cy="1276350"/>
            </a:xfrm>
            <a:prstGeom prst="roundRect">
              <a:avLst>
                <a:gd name="adj" fmla="val 10448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829675" y="245745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993505" y="238125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分歧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24912" y="2727484"/>
              <a:ext cx="9266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DISAGREEMENTS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24912" y="29698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保留未解决的争议，不假装一致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429250" y="3657600"/>
              <a:ext cx="2905125" cy="1276350"/>
            </a:xfrm>
            <a:prstGeom prst="roundRect">
              <a:avLst>
                <a:gd name="adj" fmla="val 10448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657850" y="390525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21680" y="38290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执行任务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653088" y="4175284"/>
              <a:ext cx="35232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TASKS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653088" y="4417695"/>
              <a:ext cx="17602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负责人 / 输入 / 期望产出 / 时限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601075" y="3657600"/>
              <a:ext cx="2905125" cy="1276350"/>
            </a:xfrm>
            <a:prstGeom prst="roundRect">
              <a:avLst>
                <a:gd name="adj" fmla="val 10448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8829675" y="3905250"/>
              <a:ext cx="76200" cy="76200"/>
            </a:xfrm>
            <a:prstGeom prst="roundRect">
              <a:avLst>
                <a:gd name="adj" fmla="val 25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993505" y="382905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风险项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824912" y="4175284"/>
              <a:ext cx="32814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RISKS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24912" y="44176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触发条件与需要盯住的指标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85800" y="5143500"/>
            <a:ext cx="10820400" cy="647700"/>
            <a:chOff x="685800" y="5143500"/>
            <a:chExt cx="10820400" cy="647700"/>
          </a:xfrm>
        </p:grpSpPr>
        <p:sp>
          <p:nvSpPr>
            <p:cNvPr id="82" name="Rectangle 82"/>
            <p:cNvSpPr/>
            <p:nvPr/>
          </p:nvSpPr>
          <p:spPr>
            <a:xfrm>
              <a:off x="685800" y="5143500"/>
              <a:ext cx="10820400" cy="647700"/>
            </a:xfrm>
            <a:prstGeom prst="roundRect">
              <a:avLst>
                <a:gd name="adj" fmla="val 20588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003173" y="532971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讨论的价值不在于热闹，而在于最后能派工。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948047" y="5362099"/>
              <a:ext cx="3947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执行任务清单可以直接喂回任务流水线，由 DAG 调度器接着跑。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86" name="Line 8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062288" y="6468189"/>
              <a:ext cx="83878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共识合成与交付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07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095500" y="-2667000"/>
            <a:ext cx="17145000" cy="11811000"/>
            <a:chOff x="-2095500" y="-2667000"/>
            <a:chExt cx="17145000" cy="1181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-2095500" y="-2667000"/>
              <a:ext cx="9906000" cy="7620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667500" y="3048000"/>
              <a:ext cx="8382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4863160" cy="989266"/>
            <a:chOff x="671322" y="645795"/>
            <a:chExt cx="4863160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685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圆桌 05 / FIREWALL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共识也要过闸：出口防火墙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39260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圆桌讨论出的最终方案没有豁免权 —— 不过质检，就不允许发布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85800" y="2209800"/>
            <a:ext cx="10820400" cy="952500"/>
            <a:chOff x="685800" y="2209800"/>
            <a:chExt cx="10820400" cy="952500"/>
          </a:xfrm>
        </p:grpSpPr>
        <p:sp>
          <p:nvSpPr>
            <p:cNvPr id="43" name="Rectangle 43"/>
            <p:cNvSpPr/>
            <p:nvPr/>
          </p:nvSpPr>
          <p:spPr>
            <a:xfrm>
              <a:off x="685800" y="2324100"/>
              <a:ext cx="1905000" cy="704850"/>
            </a:xfrm>
            <a:prstGeom prst="roundRect">
              <a:avLst>
                <a:gd name="adj" fmla="val 16216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269964" y="25293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圆桌共识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16200" y="2784634"/>
              <a:ext cx="64420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1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CONSENSUS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2667000" y="2676525"/>
              <a:ext cx="3810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47" name="Rectangle 47"/>
            <p:cNvSpPr/>
            <p:nvPr/>
          </p:nvSpPr>
          <p:spPr>
            <a:xfrm>
              <a:off x="3124200" y="2209800"/>
              <a:ext cx="2552700" cy="933450"/>
            </a:xfrm>
            <a:prstGeom prst="roundRect">
              <a:avLst>
                <a:gd name="adj" fmla="val 12245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918204" y="2390775"/>
              <a:ext cx="964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Validator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92028" y="2676049"/>
              <a:ext cx="12170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四维评分 · 一票否决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852288" y="2917984"/>
              <a:ext cx="109652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1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OUTPUT FIREWALL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5753100" y="26765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38850" y="24003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1430">
              <a:solidFill>
                <a:schemeClr val="accent4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6038850" y="2400300"/>
              <a:ext cx="304800" cy="1"/>
            </a:xfrm>
            <a:prstGeom prst="line">
              <a:avLst/>
            </a:prstGeom>
            <a:noFill/>
            <a:ln w="13335">
              <a:solidFill>
                <a:srgbClr val="10B981"/>
              </a:solidFill>
              <a:tailEnd type="triangle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6038850" y="2952750"/>
              <a:ext cx="304800" cy="1"/>
            </a:xfrm>
            <a:prstGeom prst="line">
              <a:avLst/>
            </a:prstGeom>
            <a:noFill/>
            <a:ln w="13335">
              <a:solidFill>
                <a:srgbClr val="EF4444"/>
              </a:solidFill>
              <a:tailEnd type="triangle" w="lg" len="lg"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38900" y="2209800"/>
              <a:ext cx="5067300" cy="400050"/>
            </a:xfrm>
            <a:prstGeom prst="roundRect">
              <a:avLst>
                <a:gd name="adj" fmla="val 50000"/>
              </a:avLst>
            </a:prstGeom>
            <a:solidFill>
              <a:srgbClr val="10B981">
                <a:alpha val="10000"/>
              </a:srgbClr>
            </a:solidFill>
            <a:ln w="9525">
              <a:solidFill>
                <a:srgbClr val="10B981">
                  <a:alpha val="60000"/>
                </a:srgbClr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62166" y="2353628"/>
              <a:ext cx="24631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0B981"/>
                  </a:solidFill>
                  <a:latin typeface="+mn-lt"/>
                  <a:ea typeface="+mn-ea"/>
                  <a:cs typeface="+mn-cs"/>
                </a:rPr>
                <a:t>pass → 共识发布，执行任务进入流水线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38900" y="2762250"/>
              <a:ext cx="5067300" cy="40005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10000"/>
              </a:srgbClr>
            </a:solidFill>
            <a:ln w="9525">
              <a:solidFill>
                <a:srgbClr val="EF4444">
                  <a:alpha val="60000"/>
                </a:srgbClr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62166" y="2906078"/>
              <a:ext cx="2793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fail → failCodes 驱动回滚，主持人重新合成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85800" y="3543300"/>
            <a:ext cx="10820400" cy="1428750"/>
            <a:chOff x="685800" y="3543300"/>
            <a:chExt cx="10820400" cy="1428750"/>
          </a:xfrm>
        </p:grpSpPr>
        <p:sp>
          <p:nvSpPr>
            <p:cNvPr id="60" name="Rectangle 60"/>
            <p:cNvSpPr/>
            <p:nvPr/>
          </p:nvSpPr>
          <p:spPr>
            <a:xfrm>
              <a:off x="685800" y="3543300"/>
              <a:ext cx="2533650" cy="1428750"/>
            </a:xfrm>
            <a:prstGeom prst="roundRect">
              <a:avLst>
                <a:gd name="adj" fmla="val 9333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8688" y="3775234"/>
              <a:ext cx="56952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ACCURACY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3925" y="4007644"/>
              <a:ext cx="8162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准确性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334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6366F1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8688" y="4570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事实与数据是否站得住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448050" y="3543300"/>
              <a:ext cx="2533650" cy="1428750"/>
            </a:xfrm>
            <a:prstGeom prst="roundRect">
              <a:avLst>
                <a:gd name="adj" fmla="val 9333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690938" y="3775234"/>
              <a:ext cx="89781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COMPLETENESS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686175" y="4007644"/>
              <a:ext cx="8162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完整性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369570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690938" y="4570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议题要求是否全部覆盖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10300" y="3543300"/>
              <a:ext cx="2533650" cy="1428750"/>
            </a:xfrm>
            <a:prstGeom prst="roundRect">
              <a:avLst>
                <a:gd name="adj" fmla="val 9333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53188" y="3775234"/>
              <a:ext cx="424724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SAFETY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448425" y="4007644"/>
              <a:ext cx="81627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安全性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45795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EF4444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53188" y="4570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是否越界或含有害内容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972550" y="3543300"/>
              <a:ext cx="2533650" cy="1428750"/>
            </a:xfrm>
            <a:prstGeom prst="roundRect">
              <a:avLst>
                <a:gd name="adj" fmla="val 9333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15438" y="3775234"/>
              <a:ext cx="46341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FORMAT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10675" y="4007644"/>
              <a:ext cx="5505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格式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9220200" y="44005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10B981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215438" y="4570095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是否符合下游可消费的结构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80466" y="5277802"/>
            <a:ext cx="5240655" cy="453009"/>
            <a:chOff x="680466" y="5277802"/>
            <a:chExt cx="5240655" cy="453009"/>
          </a:xfrm>
        </p:grpSpPr>
        <p:sp>
          <p:nvSpPr>
            <p:cNvPr id="81" name="TextBox 81"/>
            <p:cNvSpPr txBox="1"/>
            <p:nvPr/>
          </p:nvSpPr>
          <p:spPr>
            <a:xfrm>
              <a:off x="680466" y="5277802"/>
              <a:ext cx="52406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拦截不是终点：每次不通过都会触发一轮恢复，最多五轮仍不过才升级为人工工单。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0466" y="5525452"/>
              <a:ext cx="49210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这条闸门同样作用于每一个 Agent 的中间产出，圆桌只是它守住的最后一道。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84" name="Line 8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3062288" y="6468189"/>
              <a:ext cx="59781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出口防火墙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08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762250" y="-1619250"/>
            <a:ext cx="16478250" cy="9810750"/>
            <a:chOff x="-2762250" y="-1619250"/>
            <a:chExt cx="16478250" cy="9810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048000" y="-571500"/>
              <a:ext cx="10668000" cy="8763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762250" y="-1619250"/>
              <a:ext cx="7620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71322" y="645795"/>
            <a:ext cx="5307056" cy="989266"/>
            <a:chOff x="671322" y="645795"/>
            <a:chExt cx="5307056" cy="989266"/>
          </a:xfrm>
        </p:grpSpPr>
        <p:sp>
          <p:nvSpPr>
            <p:cNvPr id="6" name="TextBox 6"/>
            <p:cNvSpPr txBox="1"/>
            <p:nvPr/>
          </p:nvSpPr>
          <p:spPr>
            <a:xfrm>
              <a:off x="681038" y="645795"/>
              <a:ext cx="13748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圆桌 06 / STAGE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1322" y="930592"/>
              <a:ext cx="530705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看得见的圆桌：3D 实时舞台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466" y="1429702"/>
              <a:ext cx="36857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讨论过程不是日志，而是一个可以现场旋转观看的三维场景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764024" y="2385670"/>
            <a:ext cx="7159752" cy="3472681"/>
            <a:chOff x="4764024" y="2385670"/>
            <a:chExt cx="7159752" cy="3472681"/>
          </a:xfrm>
        </p:grpSpPr>
        <p:sp>
          <p:nvSpPr>
            <p:cNvPr id="10" name="Ellipse 10"/>
            <p:cNvSpPr/>
            <p:nvPr/>
          </p:nvSpPr>
          <p:spPr>
            <a:xfrm>
              <a:off x="5205984" y="2385670"/>
              <a:ext cx="6275832" cy="3305861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382768" y="2735580"/>
              <a:ext cx="5922264" cy="2606040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4764024" y="2463165"/>
              <a:ext cx="7159752" cy="3150870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134100" y="3163519"/>
              <a:ext cx="4419600" cy="1944624"/>
            </a:xfrm>
            <a:prstGeom prst="ellipse">
              <a:avLst/>
            </a:prstGeom>
            <a:solidFill>
              <a:srgbClr val="08122A">
                <a:alpha val="55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134100" y="3066288"/>
              <a:ext cx="4419600" cy="1944624"/>
            </a:xfrm>
            <a:prstGeom prst="ellipse">
              <a:avLst/>
            </a:prstGeom>
            <a:gradFill>
              <a:gsLst>
                <a:gs pos="0">
                  <a:srgbClr val="2C4C9E">
                    <a:alpha val="62000"/>
                  </a:srgbClr>
                </a:gs>
                <a:gs pos="60000">
                  <a:srgbClr val="16264C">
                    <a:alpha val="50000"/>
                  </a:srgbClr>
                </a:gs>
                <a:gs pos="100000">
                  <a:srgbClr val="0A1024">
                    <a:alpha val="34000"/>
                  </a:srgbClr>
                </a:gs>
              </a:gsLst>
              <a:path path="circle">
                <a:fillToRect l="50000" t="38000" r="50000" b="62000"/>
              </a:path>
            </a:gradFill>
            <a:ln w="13335">
              <a:solidFill>
                <a:schemeClr val="accent6">
                  <a:alpha val="70000"/>
                </a:schemeClr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973824" y="3435767"/>
              <a:ext cx="2740152" cy="1205667"/>
            </a:xfrm>
            <a:prstGeom prst="ellipse">
              <a:avLst/>
            </a:prstGeom>
            <a:noFill/>
            <a:ln w="9525">
              <a:solidFill>
                <a:srgbClr val="5E86FF">
                  <a:alpha val="3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8343900" y="2774632"/>
              <a:ext cx="2220277" cy="631508"/>
            </a:xfrm>
            <a:custGeom>
              <a:avLst/>
              <a:gdLst/>
              <a:ahLst/>
              <a:cxnLst/>
              <a:rect l="l" t="t" r="r" b="b"/>
              <a:pathLst>
                <a:path w="2220277" h="631508">
                  <a:moveTo>
                    <a:pt x="0" y="0"/>
                  </a:moveTo>
                  <a:lnTo>
                    <a:pt x="2220277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343900" y="2774632"/>
              <a:ext cx="2220277" cy="1896427"/>
            </a:xfrm>
            <a:custGeom>
              <a:avLst/>
              <a:gdLst/>
              <a:ahLst/>
              <a:cxnLst/>
              <a:rect l="l" t="t" r="r" b="b"/>
              <a:pathLst>
                <a:path w="2220277" h="1896427">
                  <a:moveTo>
                    <a:pt x="0" y="0"/>
                  </a:moveTo>
                  <a:lnTo>
                    <a:pt x="2220277" y="189642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8343900" y="2774632"/>
              <a:ext cx="9525" cy="2527935"/>
            </a:xfrm>
            <a:custGeom>
              <a:avLst/>
              <a:gdLst/>
              <a:ahLst/>
              <a:cxnLst/>
              <a:rect l="l" t="t" r="r" b="b"/>
              <a:pathLst>
                <a:path w="9525" h="2527935">
                  <a:moveTo>
                    <a:pt x="0" y="0"/>
                  </a:moveTo>
                  <a:lnTo>
                    <a:pt x="0" y="2527935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123622" y="2774632"/>
              <a:ext cx="2220278" cy="1896427"/>
            </a:xfrm>
            <a:custGeom>
              <a:avLst/>
              <a:gdLst/>
              <a:ahLst/>
              <a:cxnLst/>
              <a:rect l="l" t="t" r="r" b="b"/>
              <a:pathLst>
                <a:path w="2220278" h="1896427">
                  <a:moveTo>
                    <a:pt x="2220278" y="0"/>
                  </a:moveTo>
                  <a:lnTo>
                    <a:pt x="0" y="1896427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123622" y="2774632"/>
              <a:ext cx="2220278" cy="631508"/>
            </a:xfrm>
            <a:custGeom>
              <a:avLst/>
              <a:gdLst/>
              <a:ahLst/>
              <a:cxnLst/>
              <a:rect l="l" t="t" r="r" b="b"/>
              <a:pathLst>
                <a:path w="2220278" h="631508">
                  <a:moveTo>
                    <a:pt x="2220278" y="0"/>
                  </a:moveTo>
                  <a:lnTo>
                    <a:pt x="0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564178" y="3406140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0"/>
                  </a:moveTo>
                  <a:lnTo>
                    <a:pt x="0" y="126492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343900" y="3406140"/>
              <a:ext cx="2220277" cy="1896428"/>
            </a:xfrm>
            <a:custGeom>
              <a:avLst/>
              <a:gdLst/>
              <a:ahLst/>
              <a:cxnLst/>
              <a:rect l="l" t="t" r="r" b="b"/>
              <a:pathLst>
                <a:path w="2220277" h="1896428">
                  <a:moveTo>
                    <a:pt x="2220277" y="0"/>
                  </a:moveTo>
                  <a:lnTo>
                    <a:pt x="0" y="189642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123622" y="3406140"/>
              <a:ext cx="4440555" cy="1264920"/>
            </a:xfrm>
            <a:custGeom>
              <a:avLst/>
              <a:gdLst/>
              <a:ahLst/>
              <a:cxnLst/>
              <a:rect l="l" t="t" r="r" b="b"/>
              <a:pathLst>
                <a:path w="4440555" h="1264920">
                  <a:moveTo>
                    <a:pt x="4440555" y="0"/>
                  </a:moveTo>
                  <a:lnTo>
                    <a:pt x="0" y="126492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123622" y="3406140"/>
              <a:ext cx="4440555" cy="9525"/>
            </a:xfrm>
            <a:custGeom>
              <a:avLst/>
              <a:gdLst/>
              <a:ahLst/>
              <a:cxnLst/>
              <a:rect l="l" t="t" r="r" b="b"/>
              <a:pathLst>
                <a:path w="4440555" h="9525">
                  <a:moveTo>
                    <a:pt x="44405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8343900" y="4671060"/>
              <a:ext cx="2220277" cy="631508"/>
            </a:xfrm>
            <a:custGeom>
              <a:avLst/>
              <a:gdLst/>
              <a:ahLst/>
              <a:cxnLst/>
              <a:rect l="l" t="t" r="r" b="b"/>
              <a:pathLst>
                <a:path w="2220277" h="631508">
                  <a:moveTo>
                    <a:pt x="2220277" y="0"/>
                  </a:moveTo>
                  <a:lnTo>
                    <a:pt x="0" y="631508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123622" y="4671060"/>
              <a:ext cx="4440555" cy="9525"/>
            </a:xfrm>
            <a:custGeom>
              <a:avLst/>
              <a:gdLst/>
              <a:ahLst/>
              <a:cxnLst/>
              <a:rect l="l" t="t" r="r" b="b"/>
              <a:pathLst>
                <a:path w="4440555" h="9525">
                  <a:moveTo>
                    <a:pt x="444055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123622" y="3406140"/>
              <a:ext cx="4440555" cy="1264920"/>
            </a:xfrm>
            <a:custGeom>
              <a:avLst/>
              <a:gdLst/>
              <a:ahLst/>
              <a:cxnLst/>
              <a:rect l="l" t="t" r="r" b="b"/>
              <a:pathLst>
                <a:path w="4440555" h="1264920">
                  <a:moveTo>
                    <a:pt x="4440555" y="12649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123622" y="4671060"/>
              <a:ext cx="2220278" cy="631508"/>
            </a:xfrm>
            <a:custGeom>
              <a:avLst/>
              <a:gdLst/>
              <a:ahLst/>
              <a:cxnLst/>
              <a:rect l="l" t="t" r="r" b="b"/>
              <a:pathLst>
                <a:path w="2220278" h="631508">
                  <a:moveTo>
                    <a:pt x="2220278" y="63150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123622" y="3406140"/>
              <a:ext cx="2220278" cy="1896428"/>
            </a:xfrm>
            <a:custGeom>
              <a:avLst/>
              <a:gdLst/>
              <a:ahLst/>
              <a:cxnLst/>
              <a:rect l="l" t="t" r="r" b="b"/>
              <a:pathLst>
                <a:path w="2220278" h="1896428">
                  <a:moveTo>
                    <a:pt x="2220278" y="1896428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6123622" y="3406140"/>
              <a:ext cx="9525" cy="1264920"/>
            </a:xfrm>
            <a:custGeom>
              <a:avLst/>
              <a:gdLst/>
              <a:ahLst/>
              <a:cxnLst/>
              <a:rect l="l" t="t" r="r" b="b"/>
              <a:pathLst>
                <a:path w="9525" h="1264920">
                  <a:moveTo>
                    <a:pt x="0" y="126492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74199" y="3881914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ROUND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31295" y="4144089"/>
              <a:ext cx="62521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DEBATING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181975" y="2612708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8276272" y="2707005"/>
              <a:ext cx="135255" cy="13525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48314" y="2401252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9524" y="2568416"/>
              <a:ext cx="64875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MODERATOR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10188892" y="3030855"/>
              <a:ext cx="750570" cy="750570"/>
            </a:xfrm>
            <a:prstGeom prst="ellipse">
              <a:avLst/>
            </a:prstGeom>
            <a:solidFill>
              <a:srgbClr val="6366F1">
                <a:alpha val="14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0291762" y="3133725"/>
              <a:ext cx="544830" cy="544830"/>
            </a:xfrm>
            <a:prstGeom prst="ellipse">
              <a:avLst/>
            </a:prstGeom>
            <a:noFill/>
            <a:ln w="11430">
              <a:solidFill>
                <a:srgbClr val="6366F1">
                  <a:alpha val="55000"/>
                </a:srgbClr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10376535" y="3218498"/>
              <a:ext cx="375285" cy="375285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366F1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485120" y="3327082"/>
              <a:ext cx="158115" cy="158115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368591" y="3007042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301818" y="3174206"/>
              <a:ext cx="524718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RESEARCH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0402252" y="450913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496550" y="4603432"/>
              <a:ext cx="135255" cy="13525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368591" y="492633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34818" y="5093494"/>
              <a:ext cx="45871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ANALYST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181975" y="5140642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276272" y="5234940"/>
              <a:ext cx="135255" cy="135255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48314" y="5557838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撰稿员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49958" y="5725001"/>
              <a:ext cx="38788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WRITER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961698" y="450913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3B82F6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055995" y="4603432"/>
              <a:ext cx="135255" cy="13525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28036" y="492633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数据员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993262" y="5093494"/>
              <a:ext cx="26072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DATA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961698" y="324421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EF4444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055995" y="3338512"/>
              <a:ext cx="135255" cy="13525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928036" y="3032760"/>
              <a:ext cx="3911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830682" y="3199924"/>
              <a:ext cx="5858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9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VALIDATOR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029700" y="2171700"/>
            <a:ext cx="2400300" cy="723900"/>
            <a:chOff x="9029700" y="2171700"/>
            <a:chExt cx="2400300" cy="723900"/>
          </a:xfrm>
        </p:grpSpPr>
        <p:sp>
          <p:nvSpPr>
            <p:cNvPr id="60" name="Rectangle 60"/>
            <p:cNvSpPr/>
            <p:nvPr/>
          </p:nvSpPr>
          <p:spPr>
            <a:xfrm>
              <a:off x="9029700" y="2171700"/>
              <a:ext cx="2400300" cy="723900"/>
            </a:xfrm>
            <a:prstGeom prst="roundRect">
              <a:avLst>
                <a:gd name="adj" fmla="val 15789"/>
              </a:avLst>
            </a:prstGeom>
            <a:solidFill>
              <a:srgbClr val="6366F1">
                <a:alpha val="14000"/>
              </a:srgbClr>
            </a:solidFill>
            <a:ln w="9525">
              <a:solidFill>
                <a:srgbClr val="6366F1">
                  <a:alpha val="55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15438" y="23221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90" dirty="0">
                  <a:solidFill>
                    <a:srgbClr val="6366F1"/>
                  </a:solidFill>
                  <a:latin typeface="Consolas"/>
                  <a:ea typeface="Microsoft YaHei"/>
                  <a:cs typeface="Consolas"/>
                </a:rPr>
                <a:t>研究员 · challenge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15438" y="2531745"/>
              <a:ext cx="20669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增速口径与基数效应混淆了，建议按新增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装机重新界定。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5800" y="2209800"/>
            <a:ext cx="4476750" cy="3581400"/>
            <a:chOff x="685800" y="2209800"/>
            <a:chExt cx="4476750" cy="3581400"/>
          </a:xfrm>
        </p:grpSpPr>
        <p:sp>
          <p:nvSpPr>
            <p:cNvPr id="64" name="Rectangle 64"/>
            <p:cNvSpPr/>
            <p:nvPr/>
          </p:nvSpPr>
          <p:spPr>
            <a:xfrm>
              <a:off x="685800" y="2209800"/>
              <a:ext cx="4476750" cy="3581400"/>
            </a:xfrm>
            <a:prstGeom prst="roundRect">
              <a:avLst>
                <a:gd name="adj" fmla="val 4255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82980" y="2447925"/>
              <a:ext cx="1897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为什么值得做成 3D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5647" y="2809399"/>
              <a:ext cx="3793490" cy="4011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多智能体最难被感知的是「同时性」—— 谁在等、谁在想、谁在反对。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平铺的聊天流表达不了这件事，一张桌子可以。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1009650" y="35337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213485" y="3498056"/>
              <a:ext cx="13186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Three.js + CSS2D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214438" y="373189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七个席位环绕圆桌，可自由旋转与缩放视角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1009650" y="40671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213485" y="40314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思考态动画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214438" y="426529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头部摆动与光环脉冲，实时反映谁正在推理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1009650" y="46005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13485" y="45648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持久发言气泡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14438" y="4798695"/>
              <a:ext cx="20692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每位智能体的观点摘要停留在座位上方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1009650" y="5133975"/>
              <a:ext cx="76200" cy="76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213485" y="50982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结论定格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214438" y="5332095"/>
              <a:ext cx="2190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共识达成后场景统一切换为最终方案展示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80" name="Line 8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3062288" y="6468189"/>
              <a:ext cx="70593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3D 圆桌舞台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09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762250" y="-1809750"/>
            <a:ext cx="18192750" cy="11334750"/>
            <a:chOff x="-2762250" y="-1809750"/>
            <a:chExt cx="18192750" cy="11334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286500" y="2286000"/>
              <a:ext cx="9144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762250" y="-1809750"/>
              <a:ext cx="7620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474562" cy="989266"/>
            <a:chOff x="671322" y="645795"/>
            <a:chExt cx="6474562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253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03 / THE BASE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圆桌敢用，是因为下面有一整套底座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一场会议开得好不好，取决于参会者靠不靠谱、失败能不能兜住、过程能不能查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" y="2228850"/>
            <a:ext cx="10820400" cy="3295650"/>
            <a:chOff x="685800" y="2228850"/>
            <a:chExt cx="10820400" cy="3295650"/>
          </a:xfrm>
        </p:grpSpPr>
        <p:sp>
          <p:nvSpPr>
            <p:cNvPr id="43" name="Rectangle 43"/>
            <p:cNvSpPr/>
            <p:nvPr/>
          </p:nvSpPr>
          <p:spPr>
            <a:xfrm>
              <a:off x="685800" y="2228850"/>
              <a:ext cx="10820400" cy="723900"/>
            </a:xfrm>
            <a:prstGeom prst="roundRect">
              <a:avLst>
                <a:gd name="adj" fmla="val 18421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5325" y="24003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82980" y="24288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执行层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5838" y="2727484"/>
              <a:ext cx="65415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EXECUTION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2495550" y="24193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756535" y="2536031"/>
              <a:ext cx="4051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Planner 任务拆解 · DAG 并行调度 · 7 个声明式 Skill Agent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5800" y="3086100"/>
              <a:ext cx="10820400" cy="723900"/>
            </a:xfrm>
            <a:prstGeom prst="roundRect">
              <a:avLst>
                <a:gd name="adj" fmla="val 18421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95325" y="32575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2980" y="32861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治理层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5838" y="3584734"/>
              <a:ext cx="75287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5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GOVERNANCE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2495550" y="32766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56535" y="3393281"/>
              <a:ext cx="4489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Validator 输出防火墙 · Rollback 四级自愈 · Experience Memory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5800" y="3943350"/>
              <a:ext cx="10820400" cy="723900"/>
            </a:xfrm>
            <a:prstGeom prst="roundRect">
              <a:avLst>
                <a:gd name="adj" fmla="val 1842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95325" y="411480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82980" y="41433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协作层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838" y="4441984"/>
              <a:ext cx="99098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COLLABORATION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2495550" y="41338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756535" y="4250531"/>
              <a:ext cx="38695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Moderator 主持的 AI 圆桌 · 立场化多轮辩论 · 共识合成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38111" y="4274820"/>
              <a:ext cx="6871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spc="9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← 本次重点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5800" y="4800600"/>
              <a:ext cx="10820400" cy="723900"/>
            </a:xfrm>
            <a:prstGeom prst="roundRect">
              <a:avLst>
                <a:gd name="adj" fmla="val 18421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95325" y="4972050"/>
              <a:ext cx="38100" cy="3810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82980" y="500062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观测层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85838" y="5299234"/>
              <a:ext cx="92811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OBSERVABILITY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2495550" y="49911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56535" y="5107781"/>
              <a:ext cx="4322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 8 阶段全链路 · Snapshot 快照 · Token / Cost 实时归集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80847" y="5819299"/>
            <a:ext cx="3967734" cy="190690"/>
            <a:chOff x="680847" y="5819299"/>
            <a:chExt cx="3967734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680847" y="581929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接下来三页快速交代底座：能力怎么装、失败怎么救、过程怎么查。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71" name="Line 7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062288" y="6468189"/>
              <a:ext cx="7182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支撑体系总览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10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667000" y="-2476500"/>
            <a:ext cx="17907000" cy="11620500"/>
            <a:chOff x="-2667000" y="-2476500"/>
            <a:chExt cx="17907000" cy="1162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96000" y="-2476500"/>
              <a:ext cx="9144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667000" y="3429000"/>
              <a:ext cx="7620000" cy="5715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822685" cy="989266"/>
            <a:chOff x="671322" y="645795"/>
            <a:chExt cx="6822685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837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底座 01 / CAPABILITY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82268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能力怎么装：声明式 Skill + DAG 调度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1634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只声明「它会什么」，调度、重试、观测由运行时统一托管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85800" y="2209800"/>
            <a:ext cx="5143500" cy="2819400"/>
            <a:chOff x="685800" y="2209800"/>
            <a:chExt cx="5143500" cy="281940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5143500" cy="2819400"/>
            </a:xfrm>
            <a:prstGeom prst="roundRect">
              <a:avLst>
                <a:gd name="adj" fmla="val 5405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66788" y="2455545"/>
              <a:ext cx="11484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9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agents/analyst/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971550" y="27051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66597" y="2904649"/>
              <a:ext cx="7882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├─ skill.json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76538" y="2912745"/>
              <a:ext cx="1378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能力声明 / 版本 / 复杂度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6597" y="3285649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├─ prompt.ts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776538" y="3293745"/>
              <a:ext cx="11224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结构化 Prompt 构建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6597" y="3666649"/>
              <a:ext cx="8740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├─ schema.ts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776538" y="36747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输出数据结构定义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6597" y="4047649"/>
              <a:ext cx="9993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├─ validator.ts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76538" y="4055745"/>
              <a:ext cx="1000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 Schema 校验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6597" y="442864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└─ tools.ts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76538" y="44367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工具与数据源绑定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6216" y="4649152"/>
              <a:ext cx="33203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新增一个 Agent = 5 个声明式文件 + 0 行调度代码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096000" y="2209800"/>
            <a:ext cx="5410200" cy="2819400"/>
            <a:chOff x="6096000" y="2209800"/>
            <a:chExt cx="5410200" cy="2819400"/>
          </a:xfrm>
        </p:grpSpPr>
        <p:sp>
          <p:nvSpPr>
            <p:cNvPr id="58" name="Rectangle 58"/>
            <p:cNvSpPr/>
            <p:nvPr/>
          </p:nvSpPr>
          <p:spPr>
            <a:xfrm>
              <a:off x="6096000" y="2209800"/>
              <a:ext cx="5410200" cy="2819400"/>
            </a:xfrm>
            <a:prstGeom prst="roundRect">
              <a:avLst>
                <a:gd name="adj" fmla="val 5405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76988" y="2448639"/>
              <a:ext cx="113088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8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DAG SCHEDULER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74130" y="26955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拓扑分层，能并行的绝不串行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381750" y="3143250"/>
              <a:ext cx="1081088" cy="514350"/>
            </a:xfrm>
            <a:prstGeom prst="roundRect">
              <a:avLst>
                <a:gd name="adj" fmla="val 18519"/>
              </a:avLst>
            </a:prstGeom>
            <a:solidFill>
              <a:srgbClr val="3B82F6">
                <a:alpha val="12000"/>
              </a:srgbClr>
            </a:solidFill>
            <a:ln w="9525">
              <a:solidFill>
                <a:srgbClr val="3B82F6">
                  <a:alpha val="55000"/>
                </a:srgb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58266" y="32694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711425" y="3489484"/>
              <a:ext cx="42173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75" dirty="0">
                  <a:solidFill>
                    <a:srgbClr val="3B82F6"/>
                  </a:solidFill>
                  <a:latin typeface="Consolas"/>
                  <a:ea typeface="Consolas"/>
                  <a:cs typeface="Consolas"/>
                </a:rPr>
                <a:t>LEVEL 1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7481888" y="3400425"/>
              <a:ext cx="1143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34288" y="3143250"/>
              <a:ext cx="1081088" cy="514350"/>
            </a:xfrm>
            <a:prstGeom prst="roundRect">
              <a:avLst>
                <a:gd name="adj" fmla="val 18519"/>
              </a:avLst>
            </a:prstGeom>
            <a:solidFill>
              <a:srgbClr val="6366F1">
                <a:alpha val="12000"/>
              </a:srgbClr>
            </a:solidFill>
            <a:ln w="9525">
              <a:solidFill>
                <a:srgbClr val="6366F1">
                  <a:alpha val="55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10803" y="32694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63963" y="3489484"/>
              <a:ext cx="42173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75" dirty="0">
                  <a:solidFill>
                    <a:srgbClr val="6366F1"/>
                  </a:solidFill>
                  <a:latin typeface="Consolas"/>
                  <a:ea typeface="Consolas"/>
                  <a:cs typeface="Consolas"/>
                </a:rPr>
                <a:t>LEVEL 2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734425" y="3400425"/>
              <a:ext cx="1143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886825" y="3143250"/>
              <a:ext cx="1081088" cy="514350"/>
            </a:xfrm>
            <a:prstGeom prst="roundRect">
              <a:avLst>
                <a:gd name="adj" fmla="val 18519"/>
              </a:avLst>
            </a:prstGeom>
            <a:solidFill>
              <a:srgbClr val="F59E0B">
                <a:alpha val="12000"/>
              </a:srgbClr>
            </a:solidFill>
            <a:ln w="9525">
              <a:solidFill>
                <a:srgbClr val="F59E0B">
                  <a:alpha val="55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63341" y="32694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16500" y="3489484"/>
              <a:ext cx="42173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75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LEVEL 3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9986962" y="3400425"/>
              <a:ext cx="114300" cy="1"/>
            </a:xfrm>
            <a:prstGeom prst="line">
              <a:avLst/>
            </a:prstGeom>
            <a:noFill/>
            <a:ln w="13335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139362" y="3143250"/>
              <a:ext cx="1081088" cy="514350"/>
            </a:xfrm>
            <a:prstGeom prst="roundRect">
              <a:avLst>
                <a:gd name="adj" fmla="val 18519"/>
              </a:avLst>
            </a:prstGeom>
            <a:solidFill>
              <a:srgbClr val="10B981">
                <a:alpha val="12000"/>
              </a:srgbClr>
            </a:solidFill>
            <a:ln w="9525">
              <a:solidFill>
                <a:srgbClr val="10B981">
                  <a:alpha val="55000"/>
                </a:srgbClr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515878" y="326945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成稿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69038" y="3489484"/>
              <a:ext cx="42173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spc="75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LEVEL 4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05562" y="3910012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7297" y="3876199"/>
              <a:ext cx="2618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Kahn 拓扑排序自动分层，无需手写编排顺序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05562" y="4195762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567297" y="416194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同层任务并行执行，上游产出自动注入下游上下文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05562" y="4481512"/>
              <a:ext cx="66675" cy="666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7297" y="44476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环依赖立即上报，安全阀防止无限循环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85800" y="5219700"/>
            <a:ext cx="10820400" cy="571500"/>
            <a:chOff x="685800" y="5219700"/>
            <a:chExt cx="10820400" cy="571500"/>
          </a:xfrm>
        </p:grpSpPr>
        <p:sp>
          <p:nvSpPr>
            <p:cNvPr id="83" name="Rectangle 83"/>
            <p:cNvSpPr/>
            <p:nvPr/>
          </p:nvSpPr>
          <p:spPr>
            <a:xfrm>
              <a:off x="685800" y="5219700"/>
              <a:ext cx="10820400" cy="571500"/>
            </a:xfrm>
            <a:prstGeom prst="roundRect">
              <a:avLst>
                <a:gd name="adj" fmla="val 23333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03935" y="5460206"/>
              <a:ext cx="55048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调度器不理解业务，只理解依赖 —— 换场景只需换一份任务图，不改调度代码。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86" name="Line 8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3062288" y="6468189"/>
              <a:ext cx="12719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Skill 架构与 DAG 调度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1905000" y="-1905000"/>
            <a:ext cx="16859250" cy="11620500"/>
            <a:chOff x="-1905000" y="-1905000"/>
            <a:chExt cx="16859250" cy="1162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-1905000" y="2476500"/>
              <a:ext cx="9525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953250" y="-190500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6132139" cy="989266"/>
            <a:chOff x="671322" y="645795"/>
            <a:chExt cx="6132139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8372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rgbClr val="10B981"/>
                  </a:solidFill>
                  <a:latin typeface="Consolas"/>
                  <a:ea typeface="Microsoft YaHei"/>
                  <a:cs typeface="Consolas"/>
                </a:rPr>
                <a:t>底座 02 / RESILIENCE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61321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失败怎么救：四级自愈 + 经验记忆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失败不是终点，而是恢复流程的入口；每一次成败都会改变下一次的选择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5800" y="2209800"/>
            <a:ext cx="6667500" cy="2857500"/>
            <a:chOff x="685800" y="2209800"/>
            <a:chExt cx="6667500" cy="2857500"/>
          </a:xfrm>
        </p:grpSpPr>
        <p:sp>
          <p:nvSpPr>
            <p:cNvPr id="43" name="Rectangle 43"/>
            <p:cNvSpPr/>
            <p:nvPr/>
          </p:nvSpPr>
          <p:spPr>
            <a:xfrm>
              <a:off x="685800" y="2209800"/>
              <a:ext cx="6667500" cy="6286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95350" y="2381250"/>
              <a:ext cx="400050" cy="285750"/>
            </a:xfrm>
            <a:prstGeom prst="roundRect">
              <a:avLst>
                <a:gd name="adj" fmla="val 23333"/>
              </a:avLst>
            </a:prstGeom>
            <a:solidFill>
              <a:srgbClr val="10B981">
                <a:alpha val="14000"/>
              </a:srgbClr>
            </a:solidFill>
            <a:ln w="9525">
              <a:solidFill>
                <a:srgbClr val="10B981">
                  <a:alpha val="55000"/>
                </a:srgb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9921" y="24664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L1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442085" y="23931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快照回滚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43038" y="2632234"/>
              <a:ext cx="93624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6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snapshot_restore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2895600" y="23622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119247" y="2495074"/>
              <a:ext cx="33921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复用最近一次通过校验的输出，瞬时恢复，零 Token 成本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1095375" y="28384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5800" y="2952750"/>
              <a:ext cx="6667500" cy="6286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5350" y="3124200"/>
              <a:ext cx="400050" cy="285750"/>
            </a:xfrm>
            <a:prstGeom prst="roundRect">
              <a:avLst>
                <a:gd name="adj" fmla="val 23333"/>
              </a:avLst>
            </a:prstGeom>
            <a:solidFill>
              <a:schemeClr val="accent1">
                <a:alpha val="14000"/>
              </a:schemeClr>
            </a:solidFill>
            <a:ln w="9525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09921" y="320944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L2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442085" y="31361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模型切换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43038" y="3375184"/>
              <a:ext cx="69339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6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model_switch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2895600" y="31051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19247" y="3238024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按经验记忆的历史成功率排序，依次更换模型重跑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1095375" y="358140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5800" y="3695700"/>
              <a:ext cx="6667500" cy="6286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895350" y="3867150"/>
              <a:ext cx="400050" cy="285750"/>
            </a:xfrm>
            <a:prstGeom prst="roundRect">
              <a:avLst>
                <a:gd name="adj" fmla="val 23333"/>
              </a:avLst>
            </a:prstGeom>
            <a:solidFill>
              <a:srgbClr val="F59E0B">
                <a:alpha val="14000"/>
              </a:srgbClr>
            </a:solidFill>
            <a:ln w="9525">
              <a:solidFill>
                <a:srgbClr val="F59E0B">
                  <a:alpha val="55000"/>
                </a:srgbClr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09921" y="39523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L3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42085" y="38790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原模型重跑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443038" y="4118134"/>
              <a:ext cx="29357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6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rerun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2895600" y="38481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119247" y="3980974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无可用备选时以原模型重试，覆盖瞬时抖动类故障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095375" y="4324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5800" y="4438650"/>
              <a:ext cx="6667500" cy="628650"/>
            </a:xfrm>
            <a:prstGeom prst="roundRect">
              <a:avLst>
                <a:gd name="adj" fmla="val 18182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95350" y="4610100"/>
              <a:ext cx="400050" cy="285750"/>
            </a:xfrm>
            <a:prstGeom prst="roundRect">
              <a:avLst>
                <a:gd name="adj" fmla="val 23333"/>
              </a:avLst>
            </a:prstGeom>
            <a:solidFill>
              <a:srgbClr val="EF4444">
                <a:alpha val="14000"/>
              </a:srgbClr>
            </a:solidFill>
            <a:ln w="9525">
              <a:solidFill>
                <a:srgbClr val="EF4444">
                  <a:alpha val="55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09921" y="469534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L4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442085" y="46220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人工升级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443038" y="4861084"/>
              <a:ext cx="908787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6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human_escalation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2895600" y="45910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119247" y="4723924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生成含失败原因与操作建议的工单，推送到前端等待介入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658100" y="2209800"/>
            <a:ext cx="3848100" cy="2971800"/>
            <a:chOff x="7658100" y="2209800"/>
            <a:chExt cx="3848100" cy="2971800"/>
          </a:xfrm>
        </p:grpSpPr>
        <p:sp>
          <p:nvSpPr>
            <p:cNvPr id="75" name="Rectangle 75"/>
            <p:cNvSpPr/>
            <p:nvPr/>
          </p:nvSpPr>
          <p:spPr>
            <a:xfrm>
              <a:off x="7658100" y="2209800"/>
              <a:ext cx="3848100" cy="2971800"/>
            </a:xfrm>
            <a:prstGeom prst="roundRect">
              <a:avLst>
                <a:gd name="adj" fmla="val 5128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920038" y="2448639"/>
              <a:ext cx="150002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65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EXPERIENCE MEMORY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15275" y="27122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越跑越准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19847" y="3095149"/>
              <a:ext cx="3283204" cy="3945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05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每次执行都按角色 × 模型 × 任务类型记录成败并落盘，反过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来决定下次选哪个模型、回滚时先试哪个。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972425" y="3914775"/>
              <a:ext cx="171450" cy="171450"/>
            </a:xfrm>
            <a:prstGeom prst="ellipse">
              <a:avLst/>
            </a:prstGeom>
            <a:noFill/>
            <a:ln w="15240">
              <a:solidFill>
                <a:schemeClr val="accent1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027670" y="3970020"/>
              <a:ext cx="60960" cy="60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242935" y="392668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8058150" y="4105275"/>
              <a:ext cx="1" cy="190500"/>
            </a:xfrm>
            <a:prstGeom prst="line">
              <a:avLst/>
            </a:prstGeom>
            <a:noFill/>
            <a:ln w="1143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83" name="Ellipse 83"/>
            <p:cNvSpPr/>
            <p:nvPr/>
          </p:nvSpPr>
          <p:spPr>
            <a:xfrm>
              <a:off x="7972425" y="4314825"/>
              <a:ext cx="171450" cy="171450"/>
            </a:xfrm>
            <a:prstGeom prst="ellipse">
              <a:avLst/>
            </a:prstGeom>
            <a:noFill/>
            <a:ln w="15240">
              <a:solidFill>
                <a:schemeClr val="accent3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8027670" y="4370070"/>
              <a:ext cx="60960" cy="609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242935" y="43267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沉淀</a:t>
              </a:r>
            </a:p>
          </p:txBody>
        </p:sp>
        <p:sp>
          <p:nvSpPr>
            <p:cNvPr id="86" name="Line 86"/>
            <p:cNvSpPr/>
            <p:nvPr/>
          </p:nvSpPr>
          <p:spPr>
            <a:xfrm>
              <a:off x="8058150" y="4505325"/>
              <a:ext cx="1" cy="190500"/>
            </a:xfrm>
            <a:prstGeom prst="line">
              <a:avLst/>
            </a:prstGeom>
            <a:noFill/>
            <a:ln w="1143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87" name="Ellipse 87"/>
            <p:cNvSpPr/>
            <p:nvPr/>
          </p:nvSpPr>
          <p:spPr>
            <a:xfrm>
              <a:off x="7972425" y="4714875"/>
              <a:ext cx="171450" cy="171450"/>
            </a:xfrm>
            <a:prstGeom prst="ellipse">
              <a:avLst/>
            </a:prstGeom>
            <a:noFill/>
            <a:ln w="15240">
              <a:solidFill>
                <a:srgbClr val="10B981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8027670" y="4770120"/>
              <a:ext cx="60960" cy="6096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242935" y="472678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8782050" y="3981450"/>
              <a:ext cx="304800" cy="838200"/>
            </a:xfrm>
            <a:custGeom>
              <a:avLst/>
              <a:gdLst/>
              <a:ahLst/>
              <a:cxnLst/>
              <a:rect l="l" t="t" r="r" b="b"/>
              <a:pathLst>
                <a:path w="304800" h="838200">
                  <a:moveTo>
                    <a:pt x="0" y="838200"/>
                  </a:moveTo>
                  <a:lnTo>
                    <a:pt x="304800" y="838200"/>
                  </a:lnTo>
                  <a:lnTo>
                    <a:pt x="304800" y="0"/>
                  </a:lnTo>
                  <a:lnTo>
                    <a:pt x="0" y="0"/>
                  </a:lnTo>
                </a:path>
              </a:pathLst>
            </a:custGeom>
            <a:noFill/>
            <a:ln w="11430">
              <a:solidFill>
                <a:schemeClr val="accent6">
                  <a:alpha val="70000"/>
                </a:schemeClr>
              </a:solidFill>
              <a:tailEnd type="triangle" w="lg" len="lg"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158288" y="4344114"/>
              <a:ext cx="23232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7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闭环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80847" y="5400199"/>
            <a:ext cx="5062982" cy="190690"/>
            <a:chOff x="680847" y="5400199"/>
            <a:chExt cx="5062982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680847" y="5400199"/>
              <a:ext cx="50629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错误分类覆盖 DATA / MODEL / TOOL / POLICY 四类，不同错误走不同恢复路径。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95" name="Line 9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062288" y="6468189"/>
              <a:ext cx="83878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自愈与经验记忆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12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0" y="-2667000"/>
            <a:ext cx="15049500" cy="11906250"/>
            <a:chOff x="0" y="-2667000"/>
            <a:chExt cx="15049500" cy="11906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81000" y="-2667000"/>
              <a:ext cx="11430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048500" y="314325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5608433" cy="989266"/>
            <a:chOff x="671322" y="645795"/>
            <a:chExt cx="5608433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2181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底座 03 / OBSERVABILITY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560843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过程怎么查：8 阶段全链路留痕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9782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从上下文构建到模型调用再到输出校验，每一步都带模型、Token、成本与耗时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85800" y="2505075"/>
            <a:ext cx="10820400" cy="809625"/>
            <a:chOff x="685800" y="2505075"/>
            <a:chExt cx="10820400" cy="809625"/>
          </a:xfrm>
        </p:grpSpPr>
        <p:sp>
          <p:nvSpPr>
            <p:cNvPr id="43" name="Line 43"/>
            <p:cNvSpPr/>
            <p:nvPr/>
          </p:nvSpPr>
          <p:spPr>
            <a:xfrm>
              <a:off x="1312069" y="2552700"/>
              <a:ext cx="9567862" cy="9525"/>
            </a:xfrm>
            <a:custGeom>
              <a:avLst/>
              <a:gdLst/>
              <a:ahLst/>
              <a:cxnLst/>
              <a:rect l="l" t="t" r="r" b="b"/>
              <a:pathLst>
                <a:path w="9567862" h="9525">
                  <a:moveTo>
                    <a:pt x="0" y="0"/>
                  </a:moveTo>
                  <a:lnTo>
                    <a:pt x="9567862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264444" y="2505075"/>
              <a:ext cx="95250" cy="95250"/>
            </a:xfrm>
            <a:prstGeom prst="ellipse">
              <a:avLst/>
            </a:prstGeom>
            <a:solidFill>
              <a:srgbClr val="5E709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5800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8004" y="3010614"/>
              <a:ext cx="36813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START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2631281" y="25050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052638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09615" y="3010614"/>
              <a:ext cx="53858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CONTEXT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3998119" y="2505075"/>
              <a:ext cx="95250" cy="95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3419475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838081" y="3010614"/>
              <a:ext cx="41532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MODEL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364956" y="25050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786312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121324" y="3010614"/>
              <a:ext cx="58251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LLM CALL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731794" y="2505075"/>
              <a:ext cx="95250" cy="952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53150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99961" y="3010614"/>
              <a:ext cx="55891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VALIDATE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098631" y="250507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19988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840251" y="3010614"/>
              <a:ext cx="61201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SNAPSHOT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465469" y="2505075"/>
              <a:ext cx="95250" cy="952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86825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55601" y="3010614"/>
              <a:ext cx="51498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SUCCESS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10832306" y="2505075"/>
              <a:ext cx="95250" cy="95250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10253662" y="2781300"/>
              <a:ext cx="1252538" cy="533400"/>
            </a:xfrm>
            <a:prstGeom prst="roundRect">
              <a:avLst>
                <a:gd name="adj" fmla="val 17857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747329" y="3010614"/>
              <a:ext cx="26520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b="1" spc="60" dirty="0">
                  <a:solidFill>
                    <a:srgbClr val="EF4444"/>
                  </a:solidFill>
                  <a:latin typeface="Consolas"/>
                  <a:ea typeface="Consolas"/>
                  <a:cs typeface="Consolas"/>
                </a:rPr>
                <a:t>FAIL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685800" y="3657600"/>
            <a:ext cx="10820400" cy="1676400"/>
            <a:chOff x="685800" y="3657600"/>
            <a:chExt cx="10820400" cy="1676400"/>
          </a:xfrm>
        </p:grpSpPr>
        <p:sp>
          <p:nvSpPr>
            <p:cNvPr id="69" name="Rectangle 69"/>
            <p:cNvSpPr/>
            <p:nvPr/>
          </p:nvSpPr>
          <p:spPr>
            <a:xfrm>
              <a:off x="685800" y="3657600"/>
              <a:ext cx="3416300" cy="167640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914400" y="36599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738" y="3908584"/>
              <a:ext cx="5888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SNAPSHOT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43356" y="4149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快照留痕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52500" y="453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47547" y="4695349"/>
              <a:ext cx="2872486" cy="3888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每次执行的输入与输出双向落盘，既是回放素材，也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是快照回滚的恢复源。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387850" y="3657600"/>
              <a:ext cx="3416300" cy="167640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4616450" y="36599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649788" y="3908584"/>
              <a:ext cx="849452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rgbClr val="F59E0B"/>
                  </a:solidFill>
                  <a:latin typeface="Consolas"/>
                  <a:ea typeface="Consolas"/>
                  <a:cs typeface="Consolas"/>
                </a:rPr>
                <a:t>TOKEN / COST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645406" y="4149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成本透明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4654550" y="453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649597" y="4695349"/>
              <a:ext cx="2878709" cy="3888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Token 按智能体归集、成本按模型归集，实时汇总到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统计接口。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089900" y="3657600"/>
              <a:ext cx="3416300" cy="1676400"/>
            </a:xfrm>
            <a:prstGeom prst="roundRect">
              <a:avLst>
                <a:gd name="adj" fmla="val 9091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318500" y="3659981"/>
              <a:ext cx="2959100" cy="14288"/>
            </a:xfrm>
            <a:prstGeom prst="rect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28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351838" y="3908584"/>
              <a:ext cx="66126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spc="135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DASHBOARD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347456" y="4149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运行看板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8356600" y="4533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351647" y="4695349"/>
              <a:ext cx="2878709" cy="3888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60"/>
                </a:lnSpc>
              </a:pPr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总运行数、成功率、Token 分布与智能体表现对比，</a:t>
              </a:r>
              <a:br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一屏掌握全局。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80466" y="5639752"/>
            <a:ext cx="6106045" cy="205359"/>
            <a:chOff x="680466" y="5639752"/>
            <a:chExt cx="6106045" cy="205359"/>
          </a:xfrm>
        </p:grpSpPr>
        <p:sp>
          <p:nvSpPr>
            <p:cNvPr id="88" name="TextBox 88"/>
            <p:cNvSpPr txBox="1"/>
            <p:nvPr/>
          </p:nvSpPr>
          <p:spPr>
            <a:xfrm>
              <a:off x="680466" y="5639752"/>
              <a:ext cx="6106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可观测不是事后补的日志 —— 它是回滚决策的输入。没有 Trace 与 Snapshot，就没有自动恢复。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90" name="Line 9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3062288" y="6468189"/>
              <a:ext cx="7182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全链路可观测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13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857500" y="-1905000"/>
            <a:ext cx="18097500" cy="11620500"/>
            <a:chOff x="-2857500" y="-1905000"/>
            <a:chExt cx="18097500" cy="11620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96000" y="2476500"/>
              <a:ext cx="9144000" cy="7239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-2857500" y="-190500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4863160" cy="989266"/>
            <a:chOff x="671322" y="645795"/>
            <a:chExt cx="4863160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3799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/ LIVE DEMO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486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现场演示：新能源主线之争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一个真实会有分歧的议题 —— 储能、光伏、新能源车，哪条最值得优先配置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85800" y="2171700"/>
            <a:ext cx="10820400" cy="1181100"/>
            <a:chOff x="685800" y="2171700"/>
            <a:chExt cx="10820400" cy="1181100"/>
          </a:xfrm>
        </p:grpSpPr>
        <p:sp>
          <p:nvSpPr>
            <p:cNvPr id="43" name="Rectangle 43"/>
            <p:cNvSpPr/>
            <p:nvPr/>
          </p:nvSpPr>
          <p:spPr>
            <a:xfrm>
              <a:off x="685800" y="2171700"/>
              <a:ext cx="2533650" cy="1181100"/>
            </a:xfrm>
            <a:prstGeom prst="roundRect">
              <a:avLst>
                <a:gd name="adj" fmla="val 1129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8210" y="24574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42.6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074926" y="2667952"/>
              <a:ext cx="295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GWh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33450" y="2933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8688" y="3084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储能上半年新增装机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448050" y="2171700"/>
              <a:ext cx="2533650" cy="1181100"/>
            </a:xfrm>
            <a:prstGeom prst="roundRect">
              <a:avLst>
                <a:gd name="adj" fmla="val 1129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680460" y="245745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+58.3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73396" y="2667952"/>
              <a:ext cx="121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3695700" y="2933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90938" y="30841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储能装机同比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10300" y="2171700"/>
              <a:ext cx="2533650" cy="1181100"/>
            </a:xfrm>
            <a:prstGeom prst="roundRect">
              <a:avLst>
                <a:gd name="adj" fmla="val 1129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42710" y="245745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128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62266" y="2667952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GW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457950" y="2933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53188" y="3084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光伏上半年新增装机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972550" y="2171700"/>
              <a:ext cx="2533650" cy="1181100"/>
            </a:xfrm>
            <a:prstGeom prst="roundRect">
              <a:avLst>
                <a:gd name="adj" fmla="val 11290"/>
              </a:avLst>
            </a:prstGeom>
            <a:gradFill>
              <a:gsLst>
                <a:gs pos="0">
                  <a:srgbClr val="22345C">
                    <a:alpha val="34000"/>
                  </a:srgbClr>
                </a:gs>
                <a:gs pos="100000">
                  <a:srgbClr val="0A1024">
                    <a:alpha val="10000"/>
                  </a:srgb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204960" y="24574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54.7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61676" y="2667952"/>
              <a:ext cx="1219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%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9220200" y="29337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15438" y="30841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新能源车渗透率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5800" y="3581400"/>
            <a:ext cx="6667500" cy="1638300"/>
            <a:chOff x="685800" y="3581400"/>
            <a:chExt cx="6667500" cy="1638300"/>
          </a:xfrm>
        </p:grpSpPr>
        <p:sp>
          <p:nvSpPr>
            <p:cNvPr id="64" name="Rectangle 64"/>
            <p:cNvSpPr/>
            <p:nvPr/>
          </p:nvSpPr>
          <p:spPr>
            <a:xfrm>
              <a:off x="685800" y="3581400"/>
              <a:ext cx="6667500" cy="1638300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66788" y="3820239"/>
              <a:ext cx="1388065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6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ROUNDTABLE TOPIC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66216" y="4096702"/>
              <a:ext cx="6011418" cy="4320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储能、光伏、新能源车三条主线中，当前哪条最值得优先配置？要求数据员给出装机与渗透率、研究员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分析供需与政策、分析师给出分阶段建议、撰稿员汇总为可执行方案，最后必须通过质检。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58100" y="3581400"/>
            <a:ext cx="3848100" cy="1638300"/>
            <a:chOff x="7658100" y="3581400"/>
            <a:chExt cx="3848100" cy="1638300"/>
          </a:xfrm>
        </p:grpSpPr>
        <p:sp>
          <p:nvSpPr>
            <p:cNvPr id="68" name="Rectangle 68"/>
            <p:cNvSpPr/>
            <p:nvPr/>
          </p:nvSpPr>
          <p:spPr>
            <a:xfrm>
              <a:off x="7658100" y="3581400"/>
              <a:ext cx="3848100" cy="1638300"/>
            </a:xfrm>
            <a:prstGeom prst="roundRect">
              <a:avLst>
                <a:gd name="adj" fmla="val 9302"/>
              </a:avLst>
            </a:prstGeom>
            <a:gradFill>
              <a:gsLst>
                <a:gs pos="0">
                  <a:srgbClr val="1B2C50">
                    <a:alpha val="22000"/>
                  </a:srgbClr>
                </a:gs>
                <a:gs pos="100000">
                  <a:srgbClr val="080F22">
                    <a:alpha val="10000"/>
                  </a:srgbClr>
                </a:gs>
              </a:gsLst>
              <a:lin ang="2700000" scaled="1"/>
            </a:gradFill>
            <a:ln w="9525">
              <a:solidFill>
                <a:srgbClr val="10B981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920038" y="3820239"/>
              <a:ext cx="96433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05" dirty="0">
                  <a:solidFill>
                    <a:srgbClr val="10B981"/>
                  </a:solidFill>
                  <a:latin typeface="Consolas"/>
                  <a:ea typeface="Consolas"/>
                  <a:cs typeface="Consolas"/>
                </a:rPr>
                <a:t>MOCK_LLM = 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915656" y="40728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零依赖演示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920038" y="4436745"/>
              <a:ext cx="3089910" cy="3590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40"/>
                </a:lnSpc>
              </a:pPr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没有 API Key 也能跑通整场圆桌：辩论、收敛、质检、回滚与</a:t>
              </a:r>
              <a:br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Trace 全部真实执行，只有模型响应来自内置数据集。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0847" y="5514499"/>
            <a:ext cx="3703879" cy="190690"/>
            <a:chOff x="680847" y="5514499"/>
            <a:chExt cx="3703879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680847" y="5514499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演示数据为仓库内置模拟数据集，字段结构与真实数据源一致。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75" name="Line 7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062288" y="6468189"/>
              <a:ext cx="47732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演示场景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14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8"/>
          <p:cNvGrpSpPr/>
          <p:nvPr/>
        </p:nvGrpSpPr>
        <p:grpSpPr>
          <a:xfrm>
            <a:off x="-2095500" y="-2762250"/>
            <a:ext cx="17049750" cy="12001500"/>
            <a:chOff x="-2095500" y="-2762250"/>
            <a:chExt cx="17049750" cy="12001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609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219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828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657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267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876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486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705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315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924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534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97536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03632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09728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15824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0" y="609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0" y="1219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0" y="1828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0" y="2438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0" y="3657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0" y="42672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0" y="487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0" y="54864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0" y="67056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24406E">
                  <a:alpha val="1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-2095500" y="-2762250"/>
              <a:ext cx="9906000" cy="7620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953250" y="314325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671322" y="645795"/>
            <a:ext cx="5668861" cy="989266"/>
            <a:chOff x="671322" y="645795"/>
            <a:chExt cx="5668861" cy="989266"/>
          </a:xfrm>
        </p:grpSpPr>
        <p:sp>
          <p:nvSpPr>
            <p:cNvPr id="39" name="TextBox 39"/>
            <p:cNvSpPr txBox="1"/>
            <p:nvPr/>
          </p:nvSpPr>
          <p:spPr>
            <a:xfrm>
              <a:off x="681038" y="645795"/>
              <a:ext cx="10688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05 / WHY US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1322" y="930592"/>
              <a:ext cx="56688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和常见多智能体方案的关键差别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0466" y="1429702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差别不在能不能跑通，而在结论从哪来、跑不通时会发生什么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80085" y="2258139"/>
            <a:ext cx="10826115" cy="3533061"/>
            <a:chOff x="680085" y="2258139"/>
            <a:chExt cx="10826115" cy="3533061"/>
          </a:xfrm>
        </p:grpSpPr>
        <p:sp>
          <p:nvSpPr>
            <p:cNvPr id="43" name="TextBox 43"/>
            <p:cNvSpPr txBox="1"/>
            <p:nvPr/>
          </p:nvSpPr>
          <p:spPr>
            <a:xfrm>
              <a:off x="681038" y="2258139"/>
              <a:ext cx="24241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维度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81238" y="2258139"/>
              <a:ext cx="49550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常见做法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6038" y="2258139"/>
              <a:ext cx="12130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b="1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85800" y="251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333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085" y="29265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协作形态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81047" y="290464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链式调用或主从分发，角色之间不交锋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10300" y="2781300"/>
              <a:ext cx="5295900" cy="495300"/>
            </a:xfrm>
            <a:prstGeom prst="roundRect">
              <a:avLst>
                <a:gd name="adj" fmla="val 1923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2">
                  <a:alpha val="60000"/>
                </a:scheme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95847" y="290464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有主持人、有立场、能收敛的圆桌辩论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85800" y="3333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085" y="35552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结论来源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81047" y="35332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单个模型一次推理的输出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10300" y="3409950"/>
              <a:ext cx="5295900" cy="495300"/>
            </a:xfrm>
            <a:prstGeom prst="roundRect">
              <a:avLst>
                <a:gd name="adj" fmla="val 1923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5847" y="35332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多视角对抗后被保留下来的部分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685800" y="3962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80085" y="41838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输出质量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281047" y="4161949"/>
              <a:ext cx="1754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依赖 Prompt 约束与人工复核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10300" y="4038600"/>
              <a:ext cx="5295900" cy="495300"/>
            </a:xfrm>
            <a:prstGeom prst="roundRect">
              <a:avLst>
                <a:gd name="adj" fmla="val 1923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95847" y="416194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四维评分防火墙，不合格直接拦截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685800" y="45910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0085" y="48125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失败处理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281047" y="47905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重试若干次，失败即抛错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210300" y="4667250"/>
              <a:ext cx="5295900" cy="495300"/>
            </a:xfrm>
            <a:prstGeom prst="roundRect">
              <a:avLst>
                <a:gd name="adj" fmla="val 1923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95847" y="479059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四级自愈阶梯，最终降级为带建议的工单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85800" y="5219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55000"/>
                </a:schemeClr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0085" y="54411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模型选择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281047" y="541924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静态配置，改模型要改代码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10300" y="5295900"/>
              <a:ext cx="5295900" cy="495300"/>
            </a:xfrm>
            <a:prstGeom prst="roundRect">
              <a:avLst>
                <a:gd name="adj" fmla="val 19231"/>
              </a:avLst>
            </a:prstGeom>
            <a:gradFill>
              <a:gsLst>
                <a:gs pos="0">
                  <a:schemeClr val="accent1">
                    <a:alpha val="20000"/>
                  </a:schemeClr>
                </a:gs>
                <a:gs pos="100000">
                  <a:schemeClr val="accent2">
                    <a:alpha val="6000"/>
                  </a:schemeClr>
                </a:gs>
              </a:gsLst>
              <a:lin ang="270000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95847" y="54192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经验记忆按历史成功率动态选型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80847" y="5838349"/>
            <a:ext cx="4587794" cy="190690"/>
            <a:chOff x="680847" y="5838349"/>
            <a:chExt cx="4587794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680847" y="5838349"/>
              <a:ext cx="45877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我们不打算取代编排框架 —— 我们补的是它们普遍留白的那两层：对抗与治理。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74" name="Line 7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81038" y="6468189"/>
              <a:ext cx="116899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HERMES AGENTOS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3062288" y="6468189"/>
              <a:ext cx="597814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差异化定位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30426" y="6468189"/>
              <a:ext cx="48053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120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15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667000" y="-1809750"/>
            <a:ext cx="17335500" cy="10001250"/>
            <a:chOff x="-2667000" y="-1809750"/>
            <a:chExt cx="17335500" cy="10001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4000500" y="-571500"/>
              <a:ext cx="10668000" cy="876300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667000" y="-1809750"/>
              <a:ext cx="8001000" cy="6096000"/>
            </a:xfrm>
            <a:prstGeom prst="ellipse">
              <a:avLst/>
            </a:prstGeom>
            <a:gradFill>
              <a:gsLst>
                <a:gs pos="0">
                  <a:srgbClr val="0E9BB0">
                    <a:alpha val="26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924550" y="2345055"/>
            <a:ext cx="6172200" cy="2889885"/>
            <a:chOff x="5924550" y="2345055"/>
            <a:chExt cx="6172200" cy="2889885"/>
          </a:xfrm>
        </p:grpSpPr>
        <p:sp>
          <p:nvSpPr>
            <p:cNvPr id="6" name="Ellipse 6"/>
            <p:cNvSpPr/>
            <p:nvPr/>
          </p:nvSpPr>
          <p:spPr>
            <a:xfrm>
              <a:off x="6305550" y="2385060"/>
              <a:ext cx="5410200" cy="2849880"/>
            </a:xfrm>
            <a:prstGeom prst="ellipse">
              <a:avLst/>
            </a:prstGeom>
            <a:gradFill>
              <a:gsLst>
                <a:gs pos="0">
                  <a:srgbClr val="3B5BFF">
                    <a:alpha val="40000"/>
                  </a:srgbClr>
                </a:gs>
                <a:gs pos="55000">
                  <a:srgbClr val="2A2F8F">
                    <a:alpha val="14000"/>
                  </a:srgb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457950" y="2687002"/>
              <a:ext cx="5105400" cy="2245995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5924550" y="2451735"/>
              <a:ext cx="6172200" cy="2716530"/>
            </a:xfrm>
            <a:prstGeom prst="ellipse">
              <a:avLst/>
            </a:prstGeom>
            <a:noFill/>
            <a:ln w="9525">
              <a:solidFill>
                <a:srgbClr val="4E7BFF">
                  <a:alpha val="16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105650" y="3055620"/>
              <a:ext cx="3810000" cy="1676400"/>
            </a:xfrm>
            <a:prstGeom prst="ellipse">
              <a:avLst/>
            </a:prstGeom>
            <a:solidFill>
              <a:srgbClr val="08122A">
                <a:alpha val="5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105650" y="2971800"/>
              <a:ext cx="3810000" cy="1676400"/>
            </a:xfrm>
            <a:prstGeom prst="ellipse">
              <a:avLst/>
            </a:prstGeom>
            <a:gradFill>
              <a:gsLst>
                <a:gs pos="0">
                  <a:srgbClr val="2C4C9E">
                    <a:alpha val="62000"/>
                  </a:srgbClr>
                </a:gs>
                <a:gs pos="60000">
                  <a:srgbClr val="16264C">
                    <a:alpha val="50000"/>
                  </a:srgbClr>
                </a:gs>
                <a:gs pos="100000">
                  <a:srgbClr val="0A1024">
                    <a:alpha val="34000"/>
                  </a:srgbClr>
                </a:gs>
              </a:gsLst>
              <a:path path="circle">
                <a:fillToRect l="50000" t="38000" r="50000" b="62000"/>
              </a:path>
            </a:gradFill>
            <a:ln w="13335">
              <a:solidFill>
                <a:schemeClr val="accent6">
                  <a:alpha val="70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829550" y="3290316"/>
              <a:ext cx="2362200" cy="1039368"/>
            </a:xfrm>
            <a:prstGeom prst="ellipse">
              <a:avLst/>
            </a:prstGeom>
            <a:noFill/>
            <a:ln w="9525">
              <a:solidFill>
                <a:srgbClr val="5E86F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010650" y="2720340"/>
              <a:ext cx="1913573" cy="544830"/>
            </a:xfrm>
            <a:custGeom>
              <a:avLst/>
              <a:gdLst/>
              <a:ahLst/>
              <a:cxnLst/>
              <a:rect l="l" t="t" r="r" b="b"/>
              <a:pathLst>
                <a:path w="1913573" h="544830">
                  <a:moveTo>
                    <a:pt x="0" y="0"/>
                  </a:moveTo>
                  <a:lnTo>
                    <a:pt x="1913573" y="54483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9010650" y="2720340"/>
              <a:ext cx="1913573" cy="1634490"/>
            </a:xfrm>
            <a:custGeom>
              <a:avLst/>
              <a:gdLst/>
              <a:ahLst/>
              <a:cxnLst/>
              <a:rect l="l" t="t" r="r" b="b"/>
              <a:pathLst>
                <a:path w="1913573" h="1634490">
                  <a:moveTo>
                    <a:pt x="0" y="0"/>
                  </a:moveTo>
                  <a:lnTo>
                    <a:pt x="1913573" y="163449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010650" y="2720340"/>
              <a:ext cx="9525" cy="2179320"/>
            </a:xfrm>
            <a:custGeom>
              <a:avLst/>
              <a:gdLst/>
              <a:ahLst/>
              <a:cxnLst/>
              <a:rect l="l" t="t" r="r" b="b"/>
              <a:pathLst>
                <a:path w="9525" h="2179320">
                  <a:moveTo>
                    <a:pt x="0" y="0"/>
                  </a:moveTo>
                  <a:lnTo>
                    <a:pt x="0" y="217932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097078" y="2720340"/>
              <a:ext cx="1913572" cy="1634490"/>
            </a:xfrm>
            <a:custGeom>
              <a:avLst/>
              <a:gdLst/>
              <a:ahLst/>
              <a:cxnLst/>
              <a:rect l="l" t="t" r="r" b="b"/>
              <a:pathLst>
                <a:path w="1913572" h="1634490">
                  <a:moveTo>
                    <a:pt x="1913572" y="0"/>
                  </a:moveTo>
                  <a:lnTo>
                    <a:pt x="0" y="163449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7097078" y="2720340"/>
              <a:ext cx="1913572" cy="544830"/>
            </a:xfrm>
            <a:custGeom>
              <a:avLst/>
              <a:gdLst/>
              <a:ahLst/>
              <a:cxnLst/>
              <a:rect l="l" t="t" r="r" b="b"/>
              <a:pathLst>
                <a:path w="1913572" h="544830">
                  <a:moveTo>
                    <a:pt x="1913572" y="0"/>
                  </a:moveTo>
                  <a:lnTo>
                    <a:pt x="0" y="54483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924222" y="3265170"/>
              <a:ext cx="9525" cy="1089660"/>
            </a:xfrm>
            <a:custGeom>
              <a:avLst/>
              <a:gdLst/>
              <a:ahLst/>
              <a:cxnLst/>
              <a:rect l="l" t="t" r="r" b="b"/>
              <a:pathLst>
                <a:path w="9525" h="1089660">
                  <a:moveTo>
                    <a:pt x="0" y="0"/>
                  </a:moveTo>
                  <a:lnTo>
                    <a:pt x="0" y="108966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010650" y="3265170"/>
              <a:ext cx="1913573" cy="1634490"/>
            </a:xfrm>
            <a:custGeom>
              <a:avLst/>
              <a:gdLst/>
              <a:ahLst/>
              <a:cxnLst/>
              <a:rect l="l" t="t" r="r" b="b"/>
              <a:pathLst>
                <a:path w="1913573" h="1634490">
                  <a:moveTo>
                    <a:pt x="1913573" y="0"/>
                  </a:moveTo>
                  <a:lnTo>
                    <a:pt x="0" y="163449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97078" y="3265170"/>
              <a:ext cx="3827145" cy="1089660"/>
            </a:xfrm>
            <a:custGeom>
              <a:avLst/>
              <a:gdLst/>
              <a:ahLst/>
              <a:cxnLst/>
              <a:rect l="l" t="t" r="r" b="b"/>
              <a:pathLst>
                <a:path w="3827145" h="1089660">
                  <a:moveTo>
                    <a:pt x="3827145" y="0"/>
                  </a:moveTo>
                  <a:lnTo>
                    <a:pt x="0" y="108966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097078" y="3265170"/>
              <a:ext cx="3827145" cy="9525"/>
            </a:xfrm>
            <a:custGeom>
              <a:avLst/>
              <a:gdLst/>
              <a:ahLst/>
              <a:cxnLst/>
              <a:rect l="l" t="t" r="r" b="b"/>
              <a:pathLst>
                <a:path w="3827145" h="9525">
                  <a:moveTo>
                    <a:pt x="382714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010650" y="4354830"/>
              <a:ext cx="1913573" cy="544830"/>
            </a:xfrm>
            <a:custGeom>
              <a:avLst/>
              <a:gdLst/>
              <a:ahLst/>
              <a:cxnLst/>
              <a:rect l="l" t="t" r="r" b="b"/>
              <a:pathLst>
                <a:path w="1913573" h="544830">
                  <a:moveTo>
                    <a:pt x="1913573" y="0"/>
                  </a:moveTo>
                  <a:lnTo>
                    <a:pt x="0" y="54483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097078" y="4354830"/>
              <a:ext cx="3827145" cy="9525"/>
            </a:xfrm>
            <a:custGeom>
              <a:avLst/>
              <a:gdLst/>
              <a:ahLst/>
              <a:cxnLst/>
              <a:rect l="l" t="t" r="r" b="b"/>
              <a:pathLst>
                <a:path w="3827145" h="9525">
                  <a:moveTo>
                    <a:pt x="3827145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097078" y="3265170"/>
              <a:ext cx="3827145" cy="1089660"/>
            </a:xfrm>
            <a:custGeom>
              <a:avLst/>
              <a:gdLst/>
              <a:ahLst/>
              <a:cxnLst/>
              <a:rect l="l" t="t" r="r" b="b"/>
              <a:pathLst>
                <a:path w="3827145" h="1089660">
                  <a:moveTo>
                    <a:pt x="3827145" y="108966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097078" y="4354830"/>
              <a:ext cx="1913572" cy="544830"/>
            </a:xfrm>
            <a:custGeom>
              <a:avLst/>
              <a:gdLst/>
              <a:ahLst/>
              <a:cxnLst/>
              <a:rect l="l" t="t" r="r" b="b"/>
              <a:pathLst>
                <a:path w="1913572" h="544830">
                  <a:moveTo>
                    <a:pt x="1913572" y="54483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097078" y="3265170"/>
              <a:ext cx="1913572" cy="1634490"/>
            </a:xfrm>
            <a:custGeom>
              <a:avLst/>
              <a:gdLst/>
              <a:ahLst/>
              <a:cxnLst/>
              <a:rect l="l" t="t" r="r" b="b"/>
              <a:pathLst>
                <a:path w="1913572" h="1634490">
                  <a:moveTo>
                    <a:pt x="1913572" y="163449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097078" y="3265170"/>
              <a:ext cx="9525" cy="1089660"/>
            </a:xfrm>
            <a:custGeom>
              <a:avLst/>
              <a:gdLst/>
              <a:ahLst/>
              <a:cxnLst/>
              <a:rect l="l" t="t" r="r" b="b"/>
              <a:pathLst>
                <a:path w="9525" h="1089660">
                  <a:moveTo>
                    <a:pt x="0" y="108966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5E86FF">
                  <a:alpha val="13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42314" y="36533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共识达成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31192" y="3915489"/>
              <a:ext cx="75891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90" spc="1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CONSENSUS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8635365" y="2345055"/>
              <a:ext cx="750570" cy="750570"/>
            </a:xfrm>
            <a:prstGeom prst="ellipse">
              <a:avLst/>
            </a:prstGeom>
            <a:solidFill>
              <a:schemeClr val="accent2">
                <a:alpha val="14000"/>
              </a:scheme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738235" y="2447925"/>
              <a:ext cx="544830" cy="544830"/>
            </a:xfrm>
            <a:prstGeom prst="ellipse">
              <a:avLst/>
            </a:prstGeom>
            <a:noFill/>
            <a:ln w="11430">
              <a:solidFill>
                <a:schemeClr val="accent2">
                  <a:alpha val="55000"/>
                </a:schemeClr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23008" y="2532698"/>
              <a:ext cx="375285" cy="375285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931592" y="2641282"/>
              <a:ext cx="158115" cy="1581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762298" y="310324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6366F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856595" y="3197542"/>
              <a:ext cx="135255" cy="135255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10762298" y="419290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59E0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856595" y="4287202"/>
              <a:ext cx="135255" cy="135255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848725" y="473773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10B981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943022" y="4832032"/>
              <a:ext cx="135255" cy="135255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935152" y="419290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3B82F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029450" y="4287202"/>
              <a:ext cx="135255" cy="135255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935152" y="3103245"/>
              <a:ext cx="323850" cy="32385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EF4444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029450" y="3197542"/>
              <a:ext cx="135255" cy="135255"/>
            </a:xfrm>
            <a:prstGeom prst="ellipse">
              <a:avLst/>
            </a:prstGeom>
            <a:solidFill>
              <a:srgbClr val="EF4444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668274" y="969645"/>
            <a:ext cx="5046726" cy="4621244"/>
            <a:chOff x="668274" y="969645"/>
            <a:chExt cx="5046726" cy="4621244"/>
          </a:xfrm>
        </p:grpSpPr>
        <p:sp>
          <p:nvSpPr>
            <p:cNvPr id="44" name="TextBox 44"/>
            <p:cNvSpPr txBox="1"/>
            <p:nvPr/>
          </p:nvSpPr>
          <p:spPr>
            <a:xfrm>
              <a:off x="681038" y="969645"/>
              <a:ext cx="15985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spc="22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06 / WHAT’S NEXT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2846" y="1324928"/>
              <a:ext cx="47116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从一场会议，到一套会议制度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85800" y="1981200"/>
              <a:ext cx="552450" cy="209550"/>
            </a:xfrm>
            <a:prstGeom prst="roundRect">
              <a:avLst>
                <a:gd name="adj" fmla="val 22727"/>
              </a:avLst>
            </a:prstGeom>
            <a:solidFill>
              <a:schemeClr val="accent1">
                <a:alpha val="14000"/>
              </a:schemeClr>
            </a:solidFill>
            <a:ln w="9525">
              <a:solidFill>
                <a:schemeClr val="accent1">
                  <a:alpha val="50000"/>
                </a:schemeClr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29545" y="2060734"/>
              <a:ext cx="2649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b="1" spc="75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NEXT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84173" y="19959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动态议程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385888" y="2265045"/>
              <a:ext cx="25538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主持人根据议题复杂度自行决定轮次与参会角色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5800" y="2590800"/>
              <a:ext cx="552450" cy="209550"/>
            </a:xfrm>
            <a:prstGeom prst="roundRect">
              <a:avLst>
                <a:gd name="adj" fmla="val 22727"/>
              </a:avLst>
            </a:prstGeom>
            <a:solidFill>
              <a:schemeClr val="accent3">
                <a:alpha val="14000"/>
              </a:schemeClr>
            </a:solidFill>
            <a:ln w="9525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9545" y="2670334"/>
              <a:ext cx="26496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b="1" spc="75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THEN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84173" y="2605564"/>
              <a:ext cx="7997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市场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5888" y="2874645"/>
              <a:ext cx="26750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基于版本做能力灰度与自动回滚，圆桌可自由组队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5800" y="3200400"/>
              <a:ext cx="552450" cy="209550"/>
            </a:xfrm>
            <a:prstGeom prst="roundRect">
              <a:avLst>
                <a:gd name="adj" fmla="val 22727"/>
              </a:avLst>
            </a:prstGeom>
            <a:solidFill>
              <a:schemeClr val="accent2">
                <a:alpha val="14000"/>
              </a:schemeClr>
            </a:solidFill>
            <a:ln w="9525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96282" y="3279934"/>
              <a:ext cx="33148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b="1" spc="7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LATER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384173" y="321516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成本护栏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85888" y="3484245"/>
              <a:ext cx="23115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预算上限与配额隔离，让长辩论也花得可控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85800" y="403860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8274" y="4351972"/>
              <a:ext cx="392986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Hermes AgentOS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6275" y="4960144"/>
              <a:ext cx="26724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gradFill>
                    <a:gsLst>
                      <a:gs pos="0">
                        <a:srgbClr val="6E8CFF"/>
                      </a:gs>
                      <a:gs pos="52000">
                        <a:srgbClr val="A78BFA"/>
                      </a:gs>
                      <a:gs pos="100000">
                        <a:schemeClr val="accent3"/>
                      </a:gs>
                    </a:gsLst>
                    <a:lin ang="0" scaled="1"/>
                  </a:gradFill>
                  <a:latin typeface="+mj-lt"/>
                  <a:ea typeface="+mj-ea"/>
                  <a:cs typeface="+mj-cs"/>
                </a:rPr>
                <a:t>让 AI 开一场圆桌会议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0847" y="5400199"/>
              <a:ext cx="21405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感谢观看 — 欢迎现场提问与实机演示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81038" y="6324600"/>
            <a:ext cx="10829925" cy="298370"/>
            <a:chOff x="681038" y="6324600"/>
            <a:chExt cx="10829925" cy="298370"/>
          </a:xfrm>
        </p:grpSpPr>
        <p:sp>
          <p:nvSpPr>
            <p:cNvPr id="63" name="Line 6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4">
                  <a:alpha val="70000"/>
                </a:schemeClr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1038" y="6468189"/>
              <a:ext cx="1963332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90" spc="105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liufelix2004 / hermes-agentos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67264" y="6468189"/>
              <a:ext cx="843699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90" b="1" spc="225" dirty="0">
                  <a:solidFill>
                    <a:srgbClr val="33507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F1F5F9"/>
      </a:dk1>
      <a:lt1>
        <a:srgbClr val="050A18"/>
      </a:lt1>
      <a:dk2>
        <a:srgbClr val="9FB0CC"/>
      </a:dk2>
      <a:lt2>
        <a:srgbClr val="0B1428"/>
      </a:lt2>
      <a:accent1>
        <a:srgbClr val="4C6FFF"/>
      </a:accent1>
      <a:accent2>
        <a:srgbClr val="8B5CF6"/>
      </a:accent2>
      <a:accent3>
        <a:srgbClr val="22D3EE"/>
      </a:accent3>
      <a:accent4>
        <a:srgbClr val="1E2C4A"/>
      </a:accent4>
      <a:accent5>
        <a:srgbClr val="5E7093"/>
      </a:accent5>
      <a:accent6>
        <a:srgbClr val="33507F"/>
      </a:accent6>
      <a:hlink>
        <a:srgbClr val="8B5CF6"/>
      </a:hlink>
      <a:folHlink>
        <a:srgbClr val="22D3EE"/>
      </a:folHlink>
    </a:clrScheme>
    <a:fontScheme name="Free Design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F1F5F9"/>
      </a:dk1>
      <a:lt1>
        <a:srgbClr val="050A18"/>
      </a:lt1>
      <a:dk2>
        <a:srgbClr val="9FB0CC"/>
      </a:dk2>
      <a:lt2>
        <a:srgbClr val="0B1428"/>
      </a:lt2>
      <a:accent1>
        <a:srgbClr val="4C6FFF"/>
      </a:accent1>
      <a:accent2>
        <a:srgbClr val="8B5CF6"/>
      </a:accent2>
      <a:accent3>
        <a:srgbClr val="22D3EE"/>
      </a:accent3>
      <a:accent4>
        <a:srgbClr val="1E2C4A"/>
      </a:accent4>
      <a:accent5>
        <a:srgbClr val="5E7093"/>
      </a:accent5>
      <a:accent6>
        <a:srgbClr val="33507F"/>
      </a:accent6>
      <a:hlink>
        <a:srgbClr val="8B5CF6"/>
      </a:hlink>
      <a:folHlink>
        <a:srgbClr val="22D3EE"/>
      </a:folHlink>
    </a:clrScheme>
    <a:fontScheme name="Free Design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2026-08-14T11:57:02Z</dcterms:created>
  <dcterms:modified xsi:type="dcterms:W3CDTF">2026-08-14T11:57:02Z</dcterms:modified>
  <cp:category/>
  <cp:contentStatus/>
</cp:coreProperties>
</file>